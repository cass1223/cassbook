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SimHei"/>
        <a:ea typeface="SimHei"/>
        <a:cs typeface="SimHei"/>
      </a:defRPr>
    </a:lvl1pPr>
    <a:lvl2pPr marL="457200" algn="l" defTabSz="457200" rtl="0" eaLnBrk="1" latinLnBrk="0" hangingPunct="1">
      <a:defRPr sz="1800" kern="1200">
        <a:solidFill>
          <a:schemeClr val="tx1"/>
        </a:solidFill>
        <a:latin typeface="SimHei"/>
        <a:ea typeface="SimHei"/>
        <a:cs typeface="SimHei"/>
      </a:defRPr>
    </a:lvl2pPr>
    <a:lvl3pPr marL="914400" algn="l" defTabSz="457200" rtl="0" eaLnBrk="1" latinLnBrk="0" hangingPunct="1">
      <a:defRPr sz="1800" kern="1200">
        <a:solidFill>
          <a:schemeClr val="tx1"/>
        </a:solidFill>
        <a:latin typeface="SimHei"/>
        <a:ea typeface="SimHei"/>
        <a:cs typeface="SimHei"/>
      </a:defRPr>
    </a:lvl3pPr>
    <a:lvl4pPr marL="1371600" algn="l" defTabSz="457200" rtl="0" eaLnBrk="1" latinLnBrk="0" hangingPunct="1">
      <a:defRPr sz="1800" kern="1200">
        <a:solidFill>
          <a:schemeClr val="tx1"/>
        </a:solidFill>
        <a:latin typeface="SimHei"/>
        <a:ea typeface="SimHei"/>
        <a:cs typeface="SimHei"/>
      </a:defRPr>
    </a:lvl4pPr>
    <a:lvl5pPr marL="1828800" algn="l" defTabSz="457200" rtl="0" eaLnBrk="1" latinLnBrk="0" hangingPunct="1">
      <a:defRPr sz="1800" kern="1200">
        <a:solidFill>
          <a:schemeClr val="tx1"/>
        </a:solidFill>
        <a:latin typeface="SimHei"/>
        <a:ea typeface="SimHei"/>
        <a:cs typeface="SimHei"/>
      </a:defRPr>
    </a:lvl5pPr>
    <a:lvl6pPr marL="2286000" algn="l" defTabSz="457200" rtl="0" eaLnBrk="1" latinLnBrk="0" hangingPunct="1">
      <a:defRPr sz="1800" kern="1200">
        <a:solidFill>
          <a:schemeClr val="tx1"/>
        </a:solidFill>
        <a:latin typeface="SimHei"/>
        <a:ea typeface="SimHei"/>
        <a:cs typeface="SimHei"/>
      </a:defRPr>
    </a:lvl6pPr>
    <a:lvl7pPr marL="2743200" algn="l" defTabSz="457200" rtl="0" eaLnBrk="1" latinLnBrk="0" hangingPunct="1">
      <a:defRPr sz="1800" kern="1200">
        <a:solidFill>
          <a:schemeClr val="tx1"/>
        </a:solidFill>
        <a:latin typeface="SimHei"/>
        <a:ea typeface="SimHei"/>
        <a:cs typeface="SimHei"/>
      </a:defRPr>
    </a:lvl7pPr>
    <a:lvl8pPr marL="3200400" algn="l" defTabSz="457200" rtl="0" eaLnBrk="1" latinLnBrk="0" hangingPunct="1">
      <a:defRPr sz="1800" kern="1200">
        <a:solidFill>
          <a:schemeClr val="tx1"/>
        </a:solidFill>
        <a:latin typeface="SimHei"/>
        <a:ea typeface="SimHei"/>
        <a:cs typeface="SimHei"/>
      </a:defRPr>
    </a:lvl8pPr>
    <a:lvl9pPr marL="3657600" algn="l" defTabSz="457200" rtl="0" eaLnBrk="1" latinLnBrk="0" hangingPunct="1">
      <a:defRPr sz="1800" kern="1200">
        <a:solidFill>
          <a:schemeClr val="tx1"/>
        </a:solidFill>
        <a:latin typeface="SimHei"/>
        <a:ea typeface="SimHei"/>
        <a:cs typeface="SimHei"/>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SimHei"/>
        <a:ea typeface="SimHei"/>
        <a:cs typeface="SimHei"/>
      </a:defRPr>
    </a:lvl1pPr>
    <a:lvl2pPr marL="457200" algn="l" defTabSz="457200" rtl="0" eaLnBrk="1" latinLnBrk="0" hangingPunct="1">
      <a:defRPr sz="1200" kern="1200">
        <a:solidFill>
          <a:schemeClr val="tx1"/>
        </a:solidFill>
        <a:latin typeface="SimHei"/>
        <a:ea typeface="SimHei"/>
        <a:cs typeface="SimHei"/>
      </a:defRPr>
    </a:lvl2pPr>
    <a:lvl3pPr marL="914400" algn="l" defTabSz="457200" rtl="0" eaLnBrk="1" latinLnBrk="0" hangingPunct="1">
      <a:defRPr sz="1200" kern="1200">
        <a:solidFill>
          <a:schemeClr val="tx1"/>
        </a:solidFill>
        <a:latin typeface="SimHei"/>
        <a:ea typeface="SimHei"/>
        <a:cs typeface="SimHei"/>
      </a:defRPr>
    </a:lvl3pPr>
    <a:lvl4pPr marL="1371600" algn="l" defTabSz="457200" rtl="0" eaLnBrk="1" latinLnBrk="0" hangingPunct="1">
      <a:defRPr sz="1200" kern="1200">
        <a:solidFill>
          <a:schemeClr val="tx1"/>
        </a:solidFill>
        <a:latin typeface="SimHei"/>
        <a:ea typeface="SimHei"/>
        <a:cs typeface="SimHei"/>
      </a:defRPr>
    </a:lvl4pPr>
    <a:lvl5pPr marL="1828800" algn="l" defTabSz="457200" rtl="0" eaLnBrk="1" latinLnBrk="0" hangingPunct="1">
      <a:defRPr sz="1200" kern="1200">
        <a:solidFill>
          <a:schemeClr val="tx1"/>
        </a:solidFill>
        <a:latin typeface="SimHei"/>
        <a:ea typeface="SimHei"/>
        <a:cs typeface="SimHei"/>
      </a:defRPr>
    </a:lvl5pPr>
    <a:lvl6pPr marL="2286000" algn="l" defTabSz="457200" rtl="0" eaLnBrk="1" latinLnBrk="0" hangingPunct="1">
      <a:defRPr sz="1200" kern="1200">
        <a:solidFill>
          <a:schemeClr val="tx1"/>
        </a:solidFill>
        <a:latin typeface="SimHei"/>
        <a:ea typeface="SimHei"/>
        <a:cs typeface="SimHei"/>
      </a:defRPr>
    </a:lvl6pPr>
    <a:lvl7pPr marL="2743200" algn="l" defTabSz="457200" rtl="0" eaLnBrk="1" latinLnBrk="0" hangingPunct="1">
      <a:defRPr sz="1200" kern="1200">
        <a:solidFill>
          <a:schemeClr val="tx1"/>
        </a:solidFill>
        <a:latin typeface="SimHei"/>
        <a:ea typeface="SimHei"/>
        <a:cs typeface="SimHei"/>
      </a:defRPr>
    </a:lvl7pPr>
    <a:lvl8pPr marL="3200400" algn="l" defTabSz="457200" rtl="0" eaLnBrk="1" latinLnBrk="0" hangingPunct="1">
      <a:defRPr sz="1200" kern="1200">
        <a:solidFill>
          <a:schemeClr val="tx1"/>
        </a:solidFill>
        <a:latin typeface="SimHei"/>
        <a:ea typeface="SimHei"/>
        <a:cs typeface="SimHei"/>
      </a:defRPr>
    </a:lvl8pPr>
    <a:lvl9pPr marL="3657600" algn="l" defTabSz="457200" rtl="0" eaLnBrk="1" latinLnBrk="0" hangingPunct="1">
      <a:defRPr sz="1200" kern="1200">
        <a:solidFill>
          <a:schemeClr val="tx1"/>
        </a:solidFill>
        <a:latin typeface="SimHei"/>
        <a:ea typeface="SimHei"/>
        <a:cs typeface="SimHe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第1页</a:t>
            </a:r>
          </a:p>
          <a:p/>
          <a:p>
            <a:r>
              <a:t>各位老师、同学好。本次分享两篇与新型环保绝缘气体微观放电参数相关的论文。第一篇是2026年Metting van Rijn和Franck关于C4F7N电子碰撞截面的工作；第二篇是2025年Simonovic等关于SF6与CO2-C4F7N针板负流注的工作。我的主线是：截面如何决定电子群参数，群参数又怎样进入非均匀放电模型。两篇文章并不是新数据先发表、流注论文再应用的关系，第二篇使用较早的截面集。</a:t>
            </a:r>
          </a:p>
          <a:p/>
          <a:p>
            <a:r>
              <a:t>依据：[1]、[2]全文。</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第2页</a:t>
            </a:r>
          </a:p>
          <a:p/>
          <a:p>
            <a:r>
              <a:t>本次不按论文页码逐段翻译，而围绕三个问题展开。第一，截面的阈值、谱形和绝对幅值分别由什么证据决定？第二，计算与电子群实验相符，究竟说明了什么，又不能说明什么？第三，把输运和反应数据输入流注模型后，哪些配比表现出更强的传播抑制能力，这种判断受哪些模型假设限制？最后将两篇工作组合成可实际检验的研究方案。</a:t>
            </a:r>
          </a:p>
          <a:p/>
          <a:p>
            <a:r>
              <a:t>依据：本次汇报结构。</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第3页</a:t>
            </a:r>
          </a:p>
          <a:p/>
          <a:p>
            <a:r>
              <a:t>环保替代需求并不能直接告诉我们一种气体是否适用于给定装置。碰撞截面描述特定能量下电子与分子的相互作用；在给定混合比例、温度和约化电场下，求解电子动力学才能得到漂移、扩散以及电离和附着等群参数；进一步加入电极几何和自洽空间电荷，才能研究流注行为。第一篇主要位于数据链前半段，第二篇位于后半段。这里的箭头是物理层次关系，不表示两篇已完成同一套数据的直接串联。</a:t>
            </a:r>
          </a:p>
          <a:p/>
          <a:p>
            <a:r>
              <a:t>依据：[1]§1、§3；[2]§1、§2。</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第4页</a:t>
            </a:r>
          </a:p>
          <a:p/>
          <a:p>
            <a:r>
              <a:t>文献一报告的是体漂移速度，并将有效电离速率按粒子数密度归一化。文献二的流体方程则使用迁移率、扩散以及Townsend电离和附着系数。附着和电离属于非守恒过程，群体质心的运动与局部通量运动可能不同，所以不能不核对定义就用体漂移速度除以电场代替模型迁移率。另外，k_eff单位是m3/s，α-η单位是m-1，不能把名称相近当作同一个量。后面的975±15 Td也是纯气体均匀场平衡条件，而不是直接的针板击穿阈值。</a:t>
            </a:r>
          </a:p>
          <a:p/>
          <a:p>
            <a:r>
              <a:t>依据：[1]§2、§3.2；[2]式(1)-(5)。</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第5页</a:t>
            </a:r>
          </a:p>
          <a:p/>
          <a:p>
            <a:r>
              <a:t>第一篇并不是在完全没有数据的情况下从零开始。作者讨论了此前的两套C4F7N截面，指出它们虽能复现实验群参数，但高于约50 eV时仍存在电子激发幅值和能量损失方面的不足，振动阈值附近的形状也需要进一步核查。因此新工作的价值是把更多外部证据引入截面集构建，尤其考虑高能粒子探测器应用需要的能量覆盖。需要将这些评价表述为本文作者对已有模型的判断，而非我们额外完成了对旧数据的独立审计。</a:t>
            </a:r>
          </a:p>
          <a:p/>
          <a:p>
            <a:r>
              <a:t>依据：[1]§1、§5，原刊pp.1、10。</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第6页</a:t>
            </a:r>
          </a:p>
          <a:p/>
          <a:p>
            <a:r>
              <a:t>图2横轴为电子能量，纵轴为截面，均为对数坐标。黑色是总弹性和弹性动量转移加转动过程，绿色是振动和超弹性振动，蓝色是不同类型电子激发，红色是附着与电离。作者按碰撞类别求和来改善可读性，实际模型中包含多个激发通道。因此这张图适合讲整体能区分工，但不能从一条绿色曲线推断只有一个振动能级。接下来分别讨论阈值、形状和幅值是怎样被确定的。</a:t>
            </a:r>
          </a:p>
          <a:p/>
          <a:p>
            <a:r>
              <a:t>依据：[1]图2及§3.1，原刊pp.2-4。</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第7页</a:t>
            </a:r>
          </a:p>
          <a:p/>
          <a:p>
            <a:r>
              <a:t>作者计算的C4F7N静偶极矩约1.6 D，与水分子的1.86 D具有可比较的量级，因此借鉴水的低能弹性数据，并采用偶极相互作用对应的1/ε趋势。Ramsauer极小值附近的形状则由纯气体与Ar、N2稀释混合气的漂移数据约束。100 eV以下，总弹性和动量转移截面被假定相同，这反映的是实验区分能力不足，不是普遍物理定律。高能区采用独立原子近似，将模型平滑连接到原子散射计算。这里值得学习的是为不同能区选取不同的证据，而不是对整段能量只采用单一拟合函数。</a:t>
            </a:r>
          </a:p>
          <a:p/>
          <a:p>
            <a:r>
              <a:t>依据：[1]§3.1.1、§4.1，原刊pp.2-3、7-8。</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第8页</a:t>
            </a:r>
          </a:p>
          <a:p/>
          <a:p>
            <a:r>
              <a:t>表中给出了六组振动阈值与相对幅值，直接整理自原文表1。相对幅值没有单位，也不是已经测得的绝对截面。相近的激发能被合并，振动基底形状采用Born-dipole散射模型，再加入由临时负离子相关过程启发的共振。作者采用约1 eV和7.6 eV的振动共振，并由电子群数据调整幅值。关键问题在于现有谱学资料多给出相对强度，角分布和探测响应又影响强度到绝对截面的转换，因此阈值已知不代表每个通道的幅值也已经确定。</a:t>
            </a:r>
          </a:p>
          <a:p/>
          <a:p>
            <a:r>
              <a:t>依据：[1]表1、§3.1.2、§4.2，原刊pp.3、8-9。</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第9页</a:t>
            </a:r>
          </a:p>
          <a:p/>
          <a:p>
            <a:r>
              <a:t>作者利用2 eV以下的离子信号确定总附着谱形，再通过群参数匹配确定幅值。原文在介绍散射信号时给出F负离子通道约7.4 eV共振，在后续讨论相对幅值时使用约7.6 eV，因此本页保留上下文差异，而不将两者混成一个过度精确的数字。更重要的是，纯气体实验对低能附着与较高能共振通道存在补偿：两组幅值反向调整，可以得到近似相同的有效电离速率。这正是反问题不唯一性的具体例子。扩展混合气、总离子信号能区和绝对散射测量，都有助于削弱补偿。</a:t>
            </a:r>
          </a:p>
          <a:p/>
          <a:p>
            <a:r>
              <a:t>依据：[1]§3.1.3、§4.3，原刊pp.3、9。</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第10页</a:t>
            </a:r>
          </a:p>
          <a:p/>
          <a:p>
            <a:r>
              <a:t>电离阈值I与W值不是同一个物理量。I是开启特定电离通道的能量门槛，W是高能电子降能过程中平均生成一个离子对所需的能量，包含非电离激发等能量损失。作者将C4F7N电离阈值设为12.7 eV，并对C2F6电离数据进行能量调整和1.5倍幅值缩放，同时考虑双重及K壳层电离。为使渐近W约为31 eV，加入16.5与20.5 eV的电子激发通道。这个W值属于模型采用的物理约束，不应讲成独立实验验证；DEGRAD在该计算中关闭附着，也不能据此代表实际电荷收集效率。</a:t>
            </a:r>
          </a:p>
          <a:p/>
          <a:p>
            <a:r>
              <a:t>依据：[1]§3.1.4-3.3、§4.5-4.6，原刊pp.3-7、10。</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第11页</a:t>
            </a:r>
          </a:p>
          <a:p/>
          <a:p>
            <a:r>
              <a:t>左图比较纯C4F7N的体漂移速度，右图比较按数密度归一化的有效电离速率系数。新测量377 Pa数据扩展了较高场区；作者认为超过约1050 Td的偏离很可能与测量评估和带宽问题有关。右图零线交点对应净电子生成率为零，作者引用的实验临界约化场为975±15 Td，计算能够很好复现。还应提醒听众，图3的2%误差条是作者为展示符合程度任意设定的，不能将它作为完整精度声明。群参数也参与了截面调整，因此宜称一致性检验，不能把所有图都当作完全独立盲验证。</a:t>
            </a:r>
          </a:p>
          <a:p/>
          <a:p>
            <a:r>
              <a:t>依据：[1]图3-4、§3.2、§4.1，原刊pp.4-7。</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第12页</a:t>
            </a:r>
          </a:p>
          <a:p/>
          <a:p>
            <a:r>
              <a:t>这页对比Ar和N2稀释条件下的体漂移速度。稀释气改变电子能量分布，使C4F7N不同通道的影响被重新加权，所以混合气不是简单重复纯气体实验。作者认为Ar混合气在所提供场区主要约束弹性动量转移通道；N2混合气整体偏差约在图示5%范围内。不过这些误差条同样为展示符合程度而设定，不能理解为所有实验的真实统一不确定度。作者还指出缺少覆盖负微分电导区的Ar数据，使振动绝对幅值仍难以直接由群数据固定。</a:t>
            </a:r>
          </a:p>
          <a:p/>
          <a:p>
            <a:r>
              <a:t>依据：[1]图5、图7、§3.2、§4.1-4.2，原刊pp.5-9。</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第13页</a:t>
            </a:r>
          </a:p>
          <a:p/>
          <a:p>
            <a:r>
              <a:t>图8给出N2混合气有效电离速率，不同浓度的计算与实验在场强依赖上仍有差异。现有证据既不能排除测量问题，也不能排除低能截面误差。低场实验难点是强附着使到达阳极的电子减少，信号边沿难分辨；减小间隙会受到测量带宽限制，降低气压又增大扩散和边界损失。作者还指出分子内振动重分配等过程没有纳入，因为数据不够。因此本文的意义是推进了物理约束下的完整截面集，但远没有终结低能数据研究。</a:t>
            </a:r>
          </a:p>
          <a:p/>
          <a:p>
            <a:r>
              <a:t>依据：[1]图8、§4.2-4.3、§5，原刊pp.7-10。</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第14页</a:t>
            </a:r>
          </a:p>
          <a:p/>
          <a:p>
            <a:r>
              <a:t>第二篇将作者已有轴对称流体模型扩展到曲线电极，使用AMReX嵌入边界表示圆柱与半球组合的针电极。这对于局部突起或针板结构十分重要，因为电极本身就会产生显著场增强。计算域沿两个方向均为16 mm，电极半径1 mm、总长3.4 mm，因此轴向有效间隙为12.6 mm。本页示意图仅说明结构和尺寸，不是仿真结果，也不按比例。作者先做空气正流注的代码间基准，再研究强附着气体的负流注。</a:t>
            </a:r>
          </a:p>
          <a:p/>
          <a:p>
            <a:r>
              <a:t>依据：[2]§1.3、§3.1、§4.1，原刊pp.2-3、7-8。</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第15页</a:t>
            </a:r>
          </a:p>
          <a:p/>
          <a:p>
            <a:r>
              <a:t>电子通量由电场漂移和密度梯度扩散构成，电子数密度变化同时受到净电离、复合与光电离影响。正负离子由相应反应方程描述，电势由空间电荷通过泊松方程求解，再由电势梯度得到电场。文中使用局部场近似，将输运与反应系数写为局部E/N的函数。这里显示一般方程；第三组强附着气体比较不包含光电离和解附着，复合仅在少量正则化算例中加入。必须把一般模型与实际比较工况的开关区分开。</a:t>
            </a:r>
          </a:p>
          <a:p/>
          <a:p>
            <a:r>
              <a:t>依据：[2]式(1)-(5)、§2及§4.4，原刊pp.2-3、11。</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第16页</a:t>
            </a:r>
          </a:p>
          <a:p/>
          <a:p>
            <a:r>
              <a:t>嵌入边界会切割矩形网格，因此小切割单元带来额外的稳定性和守恒处理问题。作者特别强调椭圆算子本来按笛卡尔坐标定义，需要调整系数体现柱坐标度量项。空气正流注中与Afivo-streamer的长度等结果符合良好，说明数值实现经受了有价值的基准检验。强附着气体在电极附近还容易出现非物理密度累积，作者采用阈值转换负离子及部分算例中的缩放复合做正则化。代码一致性支持实现的可信度，但它不是混合气实际放电的独立实验验证。</a:t>
            </a:r>
          </a:p>
          <a:p/>
          <a:p>
            <a:r>
              <a:t>依据：[2]图1、§3、§4.2-4.3，原刊pp.3-10。</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第17页</a:t>
            </a:r>
          </a:p>
          <a:p/>
          <a:p>
            <a:r>
              <a:t>为公平解释结果，必须先固定比较标尺。作者在同一针板几何下比较SF6与三种CO2-C4F7N配比，并取SF6临界场的90%、80%、70%作为统一的背景场。它们对应约324.9、288.8、252.7 Td，并不是各混合气自身临界场的相同比例。第三组的初始电子和正离子数密度均为10的13次方每立方米，未含光电离与解附着。输运数据由蒙特卡洛和多项Boltzmann方法得到，C4F7N截面来自XJTUAETLab、对应Zhang等2023工作，CO2来自Biagi。不能把它说成使用了第一篇2026新截面。</a:t>
            </a:r>
          </a:p>
          <a:p/>
          <a:p>
            <a:r>
              <a:t>依据：[2]§4.1、§4.4及参考文献[94]-[96]，原刊pp.7-8、11、28。</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第18页</a:t>
            </a:r>
          </a:p>
          <a:p/>
          <a:p>
            <a:r>
              <a:t>先看最高一档背景场。黑、红、蓝分别代表SF6、10%和15% C4F7N配比，均跨越轴向有效间隙；青色20%配比没有达到相同长度，最终在平板前熄灭。因此在此工况下，增加到20%带来了明显更强的流注传播抑制。不能仅因为红蓝传播比黑色稍快，就将速度和完整绝缘性能简单划等号；还要考虑是否跨隙、背景场和后续阶段。青色曲线突然下降的原因将在重复流注头部分解释，不表示整个前沿倒退。</a:t>
            </a:r>
          </a:p>
          <a:p/>
          <a:p>
            <a:r>
              <a:t>依据：[2]图9(a)、§4.4，原刊pp.11-13。</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第19页</a:t>
            </a:r>
          </a:p>
          <a:p/>
          <a:p>
            <a:r>
              <a:t>在80%背景场下，SF6、10%和15%配比的流注依然到达平板，20%配比则熄灭。与最高场相比，SF6和15%配比在大部分传播阶段速度逐渐降低；当靠近平板时，镜像电荷造成的场增强会影响后段加速。因此“在背景场低于均匀场临界值时也能传播”并不矛盾，因为局部针尖和流注头的自洽场可远高于均匀背景场。该图有助于说明不能用一个均匀场零净增长阈值替代非均匀场传播过程。</a:t>
            </a:r>
          </a:p>
          <a:p/>
          <a:p>
            <a:r>
              <a:t>依据：[2]图9(b)、图11(b)、§4.4，原刊pp.11-13。</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第20页</a:t>
            </a:r>
          </a:p>
          <a:p/>
          <a:p>
            <a:r>
              <a:t>最低一档背景场最容易看出15%混合气与SF6的相近表现。10%配比仍能跨隙，而SF6、15%和20%配比都会熄灭。文中给出的熄灭时间约为SF6的6 ns、15%配比的5.4 ns和20%配比的3 ns；SF6与15%的熄灭长度也较相近。20%配比更早熄灭且传播较短，因此作者据此提出其介电表现可能优于SF6。这个结论必须保留“在本模型和所选针板负流注工况下”的限定，且流注跨隙并不等同于已经模拟完成后续火花或热击穿。</a:t>
            </a:r>
          </a:p>
          <a:p/>
          <a:p>
            <a:r>
              <a:t>依据：[2]图9(c)、§4.4、§5，原刊pp.12-13、24-25。</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第21页</a:t>
            </a:r>
          </a:p>
          <a:p/>
          <a:p>
            <a:r>
              <a:t>上图是原文图14的电场分布，下图是图15的电子密度。强附着快速消耗通道电子，形成相对孤立的流注头，近电极又能形成新的头部。作者用最大场强所在位置z_max定义长度，L=z_max-3.4 mm。当新的头部场强超过旧头部时，全局最大值位置会切换，导致长度曲线跳变。这是一个指标定义和空间结构共同造成的现象，不能解释为前沿整体后退。作者还与Afivo-streamer比较了一个重复流注算例，但仍应对近电极正则化、网格和反应机理做敏感性审查。</a:t>
            </a:r>
          </a:p>
          <a:p/>
          <a:p>
            <a:r>
              <a:t>依据：[2]图14-15、图32，§3.2、§4.4，原刊pp.4-7、11-16、22-23。</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第22页</a:t>
            </a:r>
          </a:p>
          <a:p/>
          <a:p>
            <a:r>
              <a:t>把两篇文章连在一起时，最重要的是尊重它们实际完成的工作。第一篇构建多源约束的新截面集，第二篇展示较早输运数据进入非均匀放电模型后的结果。第二篇发表得更早，未使用第一篇数据，因而不能用其流注结果宣称新截面已经通过放电应用验证。真正值得开展的是同模型条件下的新旧数据替换，区分输运数据差异与模型实现、初始条件或数值误差。如果仅替换截面就改变了配比排序，这会直接提示后续测量需要优先关注哪些通道。</a:t>
            </a:r>
          </a:p>
          <a:p/>
          <a:p>
            <a:r>
              <a:t>依据：[1]§3-5；[2]§2、§4.1、§4.4。</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第23页</a:t>
            </a:r>
          </a:p>
          <a:p/>
          <a:p>
            <a:r>
              <a:t>这页是面向我研究方向的方案思考，不是作者已经完成的实验。单一纯气体曲线可能使附着与振动等过程互相补偿，因此应考虑不同稀释气和配比，以改变电子能量分布。仅增加曲线数量仍不够，还应联合漂移、扩散与反应参数，并利用绝对散射或更宽能区总离子信号提供独立信息。实验设计需要兼顾可测性：强附着降低信噪比，减小间隙遇到带宽限制，降低气压又增强扩散与边界影响。最优工况应是对目标通道敏感且系统误差可控，而非盲目扩展所有场强。</a:t>
            </a:r>
          </a:p>
          <a:p/>
          <a:p>
            <a:r>
              <a:t>依据：依据[1]§4.2-4.3；方案为本次汇报提出。</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第24页</a:t>
            </a:r>
          </a:p>
          <a:p/>
          <a:p>
            <a:r>
              <a:t>建议将最小研究任务限定为一个可重复闭环。首先审计新旧截面的通道、阈值和单位，不能把文件格式差异当成物理差异。随后在同一求解框架、组分与温度条件下计算群参数，并核对体参数和通量参数、纵向与横向扩散等定义。最后选择一个已经验证的流注工况，只替换输入系数表，比较头部场、传播距离和熄灭时间。如果差异明显，再分别扰动附着、振动及电子激发通道，寻找对结论最敏感的能区；如果差异很小，则优先扩大工况，而不是声称新旧数据完全等价。</a:t>
            </a:r>
          </a:p>
          <a:p/>
          <a:p>
            <a:r>
              <a:t>依据：依据[1]§3-5、[2]§2、§4；尚未执行该方案。</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第25页</a:t>
            </a:r>
          </a:p>
          <a:p/>
          <a:p>
            <a:r>
              <a:t>本次分享归纳为三点。第一，截面集应尽量同时满足谱学、散射与电子群数据约束，但群参数拟合良好仍不足以证明各通道唯一。第二，均匀场临界约化场不能替代非均匀放电过程，在第二篇所选针板负流注工况下，15%配比与SF6接近，20%更能抑制流注跨隙。第三，从新截面到新的应用判断，需要先统一系数定义，再在相同模型下开展替换与敏感性分析，并最终寻求独立实验支持。请各位老师同学讨论：哪类新增测量最能打破低能通道补偿？数据不确定性是否足以改变目标配比的相对判断？</a:t>
            </a:r>
          </a:p>
          <a:p/>
          <a:p>
            <a:r>
              <a:t>依据：[1]§5；[2]§5；研究建议为本次汇报提出。</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第26页</a:t>
            </a:r>
          </a:p>
          <a:p/>
          <a:p>
            <a:r>
              <a:t>此页列出两篇核心文献的完整信息。图均直接裁自用户提供的论文，未重新计算或数字化重绘。第8页表格整理自第一篇表1，针板结构示意为汇报自绘而非仿真结果，研究方案均标明为建议。文中页码指原刊页码；上传PDF比原刊多一页平台封面。可编辑PPT的文本已统一指定SimHei，化学式和单位使用PPT原生上下标；附带PDF及整页图像兼容版以减少本机缺字体对阅读和放映的影响。</a:t>
            </a:r>
          </a:p>
          <a:p/>
          <a:p>
            <a:r>
              <a:t>依据：[1]、[2]全文；图表来源详见各页备注。</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SimHei"/>
          <a:ea typeface="SimHei"/>
          <a:cs typeface="SimHei"/>
        </a:defRPr>
      </a:lvl1pPr>
    </p:titleStyle>
    <p:bodyStyle>
      <a:lvl1pPr marL="342900" indent="-342900" algn="l" defTabSz="457200" rtl="0" eaLnBrk="1" latinLnBrk="0" hangingPunct="1">
        <a:spcBef>
          <a:spcPct val="20000"/>
        </a:spcBef>
        <a:buFont typeface="SimHei"/>
        <a:buChar char="•"/>
        <a:defRPr sz="3200" kern="1200">
          <a:solidFill>
            <a:schemeClr val="tx1"/>
          </a:solidFill>
          <a:latin typeface="SimHei"/>
          <a:ea typeface="SimHei"/>
          <a:cs typeface="SimHei"/>
        </a:defRPr>
      </a:lvl1pPr>
      <a:lvl2pPr marL="742950" indent="-285750" algn="l" defTabSz="457200" rtl="0" eaLnBrk="1" latinLnBrk="0" hangingPunct="1">
        <a:spcBef>
          <a:spcPct val="20000"/>
        </a:spcBef>
        <a:buFont typeface="SimHei"/>
        <a:buChar char="–"/>
        <a:defRPr sz="2800" kern="1200">
          <a:solidFill>
            <a:schemeClr val="tx1"/>
          </a:solidFill>
          <a:latin typeface="SimHei"/>
          <a:ea typeface="SimHei"/>
          <a:cs typeface="SimHei"/>
        </a:defRPr>
      </a:lvl2pPr>
      <a:lvl3pPr marL="1143000" indent="-228600" algn="l" defTabSz="457200" rtl="0" eaLnBrk="1" latinLnBrk="0" hangingPunct="1">
        <a:spcBef>
          <a:spcPct val="20000"/>
        </a:spcBef>
        <a:buFont typeface="SimHei"/>
        <a:buChar char="•"/>
        <a:defRPr sz="2400" kern="1200">
          <a:solidFill>
            <a:schemeClr val="tx1"/>
          </a:solidFill>
          <a:latin typeface="SimHei"/>
          <a:ea typeface="SimHei"/>
          <a:cs typeface="SimHei"/>
        </a:defRPr>
      </a:lvl3pPr>
      <a:lvl4pPr marL="16002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4pPr>
      <a:lvl5pPr marL="20574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5pPr>
      <a:lvl6pPr marL="25146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6pPr>
      <a:lvl7pPr marL="29718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7pPr>
      <a:lvl8pPr marL="34290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8pPr>
      <a:lvl9pPr marL="38862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9pPr>
    </p:bodyStyle>
    <p:otherStyle>
      <a:defPPr>
        <a:defRPr lang="en-US"/>
      </a:defPPr>
      <a:lvl1pPr marL="0" algn="l" defTabSz="457200" rtl="0" eaLnBrk="1" latinLnBrk="0" hangingPunct="1">
        <a:defRPr sz="1800" kern="1200">
          <a:solidFill>
            <a:schemeClr val="tx1"/>
          </a:solidFill>
          <a:latin typeface="SimHei"/>
          <a:ea typeface="SimHei"/>
          <a:cs typeface="SimHei"/>
        </a:defRPr>
      </a:lvl1pPr>
      <a:lvl2pPr marL="457200" algn="l" defTabSz="457200" rtl="0" eaLnBrk="1" latinLnBrk="0" hangingPunct="1">
        <a:defRPr sz="1800" kern="1200">
          <a:solidFill>
            <a:schemeClr val="tx1"/>
          </a:solidFill>
          <a:latin typeface="SimHei"/>
          <a:ea typeface="SimHei"/>
          <a:cs typeface="SimHei"/>
        </a:defRPr>
      </a:lvl2pPr>
      <a:lvl3pPr marL="914400" algn="l" defTabSz="457200" rtl="0" eaLnBrk="1" latinLnBrk="0" hangingPunct="1">
        <a:defRPr sz="1800" kern="1200">
          <a:solidFill>
            <a:schemeClr val="tx1"/>
          </a:solidFill>
          <a:latin typeface="SimHei"/>
          <a:ea typeface="SimHei"/>
          <a:cs typeface="SimHei"/>
        </a:defRPr>
      </a:lvl3pPr>
      <a:lvl4pPr marL="1371600" algn="l" defTabSz="457200" rtl="0" eaLnBrk="1" latinLnBrk="0" hangingPunct="1">
        <a:defRPr sz="1800" kern="1200">
          <a:solidFill>
            <a:schemeClr val="tx1"/>
          </a:solidFill>
          <a:latin typeface="SimHei"/>
          <a:ea typeface="SimHei"/>
          <a:cs typeface="SimHei"/>
        </a:defRPr>
      </a:lvl4pPr>
      <a:lvl5pPr marL="1828800" algn="l" defTabSz="457200" rtl="0" eaLnBrk="1" latinLnBrk="0" hangingPunct="1">
        <a:defRPr sz="1800" kern="1200">
          <a:solidFill>
            <a:schemeClr val="tx1"/>
          </a:solidFill>
          <a:latin typeface="SimHei"/>
          <a:ea typeface="SimHei"/>
          <a:cs typeface="SimHei"/>
        </a:defRPr>
      </a:lvl5pPr>
      <a:lvl6pPr marL="2286000" algn="l" defTabSz="457200" rtl="0" eaLnBrk="1" latinLnBrk="0" hangingPunct="1">
        <a:defRPr sz="1800" kern="1200">
          <a:solidFill>
            <a:schemeClr val="tx1"/>
          </a:solidFill>
          <a:latin typeface="SimHei"/>
          <a:ea typeface="SimHei"/>
          <a:cs typeface="SimHei"/>
        </a:defRPr>
      </a:lvl6pPr>
      <a:lvl7pPr marL="2743200" algn="l" defTabSz="457200" rtl="0" eaLnBrk="1" latinLnBrk="0" hangingPunct="1">
        <a:defRPr sz="1800" kern="1200">
          <a:solidFill>
            <a:schemeClr val="tx1"/>
          </a:solidFill>
          <a:latin typeface="SimHei"/>
          <a:ea typeface="SimHei"/>
          <a:cs typeface="SimHei"/>
        </a:defRPr>
      </a:lvl7pPr>
      <a:lvl8pPr marL="3200400" algn="l" defTabSz="457200" rtl="0" eaLnBrk="1" latinLnBrk="0" hangingPunct="1">
        <a:defRPr sz="1800" kern="1200">
          <a:solidFill>
            <a:schemeClr val="tx1"/>
          </a:solidFill>
          <a:latin typeface="SimHei"/>
          <a:ea typeface="SimHei"/>
          <a:cs typeface="SimHei"/>
        </a:defRPr>
      </a:lvl8pPr>
      <a:lvl9pPr marL="3657600" algn="l" defTabSz="457200" rtl="0" eaLnBrk="1" latinLnBrk="0" hangingPunct="1">
        <a:defRPr sz="1800" kern="1200">
          <a:solidFill>
            <a:schemeClr val="tx1"/>
          </a:solidFill>
          <a:latin typeface="SimHei"/>
          <a:ea typeface="SimHei"/>
          <a:cs typeface="SimHe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ajorFont>
      <a:min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ajorFont>
      <a:min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C4F7N文献分享（26页防乱码放映版）</dc:title>
  <dc:subject/>
  <dc:creator/>
  <cp:keywords/>
  <dc:description>generated using python-pptx</dc:description>
  <cp:lastModifiedBy/>
  <cp:revision>1</cp:revision>
  <dcterms:created xsi:type="dcterms:W3CDTF">2013-01-27T09:14:16Z</dcterms:created>
  <dcterms:modified xsi:type="dcterms:W3CDTF">2013-01-27T09:15:58Z</dcterms:modified>
  <cp:category/>
</cp:coreProperties>
</file>