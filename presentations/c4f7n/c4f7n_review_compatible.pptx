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SimHei"/>
        <a:ea typeface="SimHei"/>
        <a:cs typeface="SimHei"/>
      </a:defRPr>
    </a:lvl1pPr>
    <a:lvl2pPr marL="457200" algn="l" defTabSz="457200" rtl="0" eaLnBrk="1" latinLnBrk="0" hangingPunct="1">
      <a:defRPr sz="1800" kern="1200">
        <a:solidFill>
          <a:schemeClr val="tx1"/>
        </a:solidFill>
        <a:latin typeface="SimHei"/>
        <a:ea typeface="SimHei"/>
        <a:cs typeface="SimHei"/>
      </a:defRPr>
    </a:lvl2pPr>
    <a:lvl3pPr marL="914400" algn="l" defTabSz="457200" rtl="0" eaLnBrk="1" latinLnBrk="0" hangingPunct="1">
      <a:defRPr sz="1800" kern="1200">
        <a:solidFill>
          <a:schemeClr val="tx1"/>
        </a:solidFill>
        <a:latin typeface="SimHei"/>
        <a:ea typeface="SimHei"/>
        <a:cs typeface="SimHei"/>
      </a:defRPr>
    </a:lvl3pPr>
    <a:lvl4pPr marL="1371600" algn="l" defTabSz="457200" rtl="0" eaLnBrk="1" latinLnBrk="0" hangingPunct="1">
      <a:defRPr sz="1800" kern="1200">
        <a:solidFill>
          <a:schemeClr val="tx1"/>
        </a:solidFill>
        <a:latin typeface="SimHei"/>
        <a:ea typeface="SimHei"/>
        <a:cs typeface="SimHei"/>
      </a:defRPr>
    </a:lvl4pPr>
    <a:lvl5pPr marL="1828800" algn="l" defTabSz="457200" rtl="0" eaLnBrk="1" latinLnBrk="0" hangingPunct="1">
      <a:defRPr sz="1800" kern="1200">
        <a:solidFill>
          <a:schemeClr val="tx1"/>
        </a:solidFill>
        <a:latin typeface="SimHei"/>
        <a:ea typeface="SimHei"/>
        <a:cs typeface="SimHei"/>
      </a:defRPr>
    </a:lvl5pPr>
    <a:lvl6pPr marL="2286000" algn="l" defTabSz="457200" rtl="0" eaLnBrk="1" latinLnBrk="0" hangingPunct="1">
      <a:defRPr sz="1800" kern="1200">
        <a:solidFill>
          <a:schemeClr val="tx1"/>
        </a:solidFill>
        <a:latin typeface="SimHei"/>
        <a:ea typeface="SimHei"/>
        <a:cs typeface="SimHei"/>
      </a:defRPr>
    </a:lvl6pPr>
    <a:lvl7pPr marL="2743200" algn="l" defTabSz="457200" rtl="0" eaLnBrk="1" latinLnBrk="0" hangingPunct="1">
      <a:defRPr sz="1800" kern="1200">
        <a:solidFill>
          <a:schemeClr val="tx1"/>
        </a:solidFill>
        <a:latin typeface="SimHei"/>
        <a:ea typeface="SimHei"/>
        <a:cs typeface="SimHei"/>
      </a:defRPr>
    </a:lvl7pPr>
    <a:lvl8pPr marL="3200400" algn="l" defTabSz="457200" rtl="0" eaLnBrk="1" latinLnBrk="0" hangingPunct="1">
      <a:defRPr sz="1800" kern="1200">
        <a:solidFill>
          <a:schemeClr val="tx1"/>
        </a:solidFill>
        <a:latin typeface="SimHei"/>
        <a:ea typeface="SimHei"/>
        <a:cs typeface="SimHei"/>
      </a:defRPr>
    </a:lvl8pPr>
    <a:lvl9pPr marL="3657600" algn="l" defTabSz="457200" rtl="0" eaLnBrk="1" latinLnBrk="0" hangingPunct="1">
      <a:defRPr sz="1800" kern="1200">
        <a:solidFill>
          <a:schemeClr val="tx1"/>
        </a:solidFill>
        <a:latin typeface="SimHei"/>
        <a:ea typeface="SimHei"/>
        <a:cs typeface="SimHei"/>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SimHei"/>
        <a:ea typeface="SimHei"/>
        <a:cs typeface="SimHei"/>
      </a:defRPr>
    </a:lvl1pPr>
    <a:lvl2pPr marL="457200" algn="l" defTabSz="457200" rtl="0" eaLnBrk="1" latinLnBrk="0" hangingPunct="1">
      <a:defRPr sz="1200" kern="1200">
        <a:solidFill>
          <a:schemeClr val="tx1"/>
        </a:solidFill>
        <a:latin typeface="SimHei"/>
        <a:ea typeface="SimHei"/>
        <a:cs typeface="SimHei"/>
      </a:defRPr>
    </a:lvl2pPr>
    <a:lvl3pPr marL="914400" algn="l" defTabSz="457200" rtl="0" eaLnBrk="1" latinLnBrk="0" hangingPunct="1">
      <a:defRPr sz="1200" kern="1200">
        <a:solidFill>
          <a:schemeClr val="tx1"/>
        </a:solidFill>
        <a:latin typeface="SimHei"/>
        <a:ea typeface="SimHei"/>
        <a:cs typeface="SimHei"/>
      </a:defRPr>
    </a:lvl3pPr>
    <a:lvl4pPr marL="1371600" algn="l" defTabSz="457200" rtl="0" eaLnBrk="1" latinLnBrk="0" hangingPunct="1">
      <a:defRPr sz="1200" kern="1200">
        <a:solidFill>
          <a:schemeClr val="tx1"/>
        </a:solidFill>
        <a:latin typeface="SimHei"/>
        <a:ea typeface="SimHei"/>
        <a:cs typeface="SimHei"/>
      </a:defRPr>
    </a:lvl4pPr>
    <a:lvl5pPr marL="1828800" algn="l" defTabSz="457200" rtl="0" eaLnBrk="1" latinLnBrk="0" hangingPunct="1">
      <a:defRPr sz="1200" kern="1200">
        <a:solidFill>
          <a:schemeClr val="tx1"/>
        </a:solidFill>
        <a:latin typeface="SimHei"/>
        <a:ea typeface="SimHei"/>
        <a:cs typeface="SimHei"/>
      </a:defRPr>
    </a:lvl5pPr>
    <a:lvl6pPr marL="2286000" algn="l" defTabSz="457200" rtl="0" eaLnBrk="1" latinLnBrk="0" hangingPunct="1">
      <a:defRPr sz="1200" kern="1200">
        <a:solidFill>
          <a:schemeClr val="tx1"/>
        </a:solidFill>
        <a:latin typeface="SimHei"/>
        <a:ea typeface="SimHei"/>
        <a:cs typeface="SimHei"/>
      </a:defRPr>
    </a:lvl6pPr>
    <a:lvl7pPr marL="2743200" algn="l" defTabSz="457200" rtl="0" eaLnBrk="1" latinLnBrk="0" hangingPunct="1">
      <a:defRPr sz="1200" kern="1200">
        <a:solidFill>
          <a:schemeClr val="tx1"/>
        </a:solidFill>
        <a:latin typeface="SimHei"/>
        <a:ea typeface="SimHei"/>
        <a:cs typeface="SimHei"/>
      </a:defRPr>
    </a:lvl7pPr>
    <a:lvl8pPr marL="3200400" algn="l" defTabSz="457200" rtl="0" eaLnBrk="1" latinLnBrk="0" hangingPunct="1">
      <a:defRPr sz="1200" kern="1200">
        <a:solidFill>
          <a:schemeClr val="tx1"/>
        </a:solidFill>
        <a:latin typeface="SimHei"/>
        <a:ea typeface="SimHei"/>
        <a:cs typeface="SimHei"/>
      </a:defRPr>
    </a:lvl8pPr>
    <a:lvl9pPr marL="3657600" algn="l" defTabSz="457200" rtl="0" eaLnBrk="1" latinLnBrk="0" hangingPunct="1">
      <a:defRPr sz="1200" kern="1200">
        <a:solidFill>
          <a:schemeClr val="tx1"/>
        </a:solidFill>
        <a:latin typeface="SimHei"/>
        <a:ea typeface="SimHei"/>
        <a:cs typeface="SimHe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第1页</a:t>
            </a:r>
          </a:p>
          <a:p/>
          <a:p>
            <a:r>
              <a:t>各位老师、同学好。本次分享两篇与新型环保绝缘气体微观放电参数相关的论文。第一篇是2026年Metting van Rijn和Franck关于C4F7N电子碰撞截面的工作；第二篇是2025年Simonovic等关于SF6与CO2-C4F7N针板负流注的工作。我的主线是：截面如何决定电子群参数，群参数又怎样进入非均匀放电模型。两篇文章并不是新数据先发表、流注论文再应用的关系，第二篇使用较早的截面集。</a:t>
            </a:r>
          </a:p>
          <a:p/>
          <a:p>
            <a:r>
              <a:t>依据：[1]、[2]全文。</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第2页</a:t>
            </a:r>
          </a:p>
          <a:p/>
          <a:p>
            <a:r>
              <a:t>研究背景主要参考张博雅老师2024年温州高压电器会议报告第3页。SF6长期用于电力工业，具有优异绝缘和开断性能，但其温室效应推动了替代路线研究。报告将候选方案分为常规天然气体以及含氟候选气体，并指出工程应用虽已有进展，一些基础性质仍未被充分认识。因此本研究不是只做气体优劣排序，而是希望获得可信的微观参数，解释放电机制与性能差异。会议材料中的GWP数值存在不同口径，本页保留定性背景而不混用这些数字。</a:t>
            </a:r>
          </a:p>
          <a:p/>
          <a:p>
            <a:r>
              <a:t>依据：[3]实际幻灯片3；概念亦见[1]§1、[2]§1.3。</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第3页</a:t>
            </a:r>
          </a:p>
          <a:p/>
          <a:p>
            <a:r>
              <a:t>会议报告第5页强调，新型环保气体常因分子结构和混合配方而具有比单纯气体更复杂的放电过程与协同作用。击穿试验很重要，它可以直接评价给定气压、配比和电极条件下的性能，但仅凭一个击穿值难以分辨弹性、激发、附着或电离各自的作用。大量组分和工况扫描还涉及时间和成本。因此需要电子动力学、微观参数和模型共同参与解释。这并非否定击穿试验，而是明确宏观性能测试与微观机理研究各自提供的信息。</a:t>
            </a:r>
          </a:p>
          <a:p/>
          <a:p>
            <a:r>
              <a:t>依据：[3]实际幻灯片4-6，重点为第5页。</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第4页</a:t>
            </a:r>
          </a:p>
          <a:p/>
          <a:p>
            <a:r>
              <a:t>会议报告第4页给出从基础物性和微观放电参数到绝缘及开断应用的整体框架，第6页强调群参数和碰撞截面是揭示绝缘与放电机理的基础。这里聚焦我的研究方向：一方面用SST、PT等群实验获取输运和反应信息，另一方面通过束流、谱学、理论与反演形成可信的碰撞截面。截面经Boltzmann或Monte Carlo计算可得到群参数，实验又可对截面施加一致性约束。电子群参数主要作为流体模型输入，碰撞截面也可直接服务粒子模型；离子动力学还可扩展到解附着和离子转化。会议中的高温电弧物性分支属于更广研究背景，本次不展开，重点衔接两篇低温电子动力学及流注文献。</a:t>
            </a:r>
          </a:p>
          <a:p/>
          <a:p>
            <a:r>
              <a:t>依据：[3]实际幻灯片4、6、9、22-24、36-37。</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第5页</a:t>
            </a:r>
          </a:p>
          <a:p/>
          <a:p>
            <a:r>
              <a:t>第一篇为Metting van Rijn和Franck于2026年发表的C4F7N电子散射截面研究，核心是多源证据约束下的截面构建、群参数比较以及高能过程合理性。第二篇是Simonovic等2025年关于针板结构中SF6与CO2-C4F7N负流注的轴对称流体仿真，核心是曲线电极的数值扩展和混合气表现。以下对每篇都按研究背景、方法、结果、结论与创新点的顺序介绍，最后再回到自己的研究方向。</a:t>
            </a:r>
          </a:p>
          <a:p/>
          <a:p>
            <a:r>
              <a:t>依据：[1]、[2]完整题录见末页。</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第6页</a:t>
            </a:r>
          </a:p>
          <a:p/>
          <a:p>
            <a:r>
              <a:t>第一篇并不是在完全没有数据的情况下从零开始。作者讨论了此前的两套C4F7N截面，指出它们虽能复现实验群参数，但高于约50 eV时仍存在电子激发幅值和能量损失方面的不足，振动阈值附近的形状也需要进一步核查。因此新工作的价值是把更多外部证据引入截面集构建，尤其考虑高能粒子探测器应用需要的能量覆盖。需要将这些评价表述为本文作者对已有模型的判断，而非我们额外完成了对旧数据的独立审计。</a:t>
            </a:r>
          </a:p>
          <a:p>
            <a:r>
              <a:t>第一篇的研究方法可以分成四步。先汇集电子能量损失谱、光吸收、质量分辨离子信号、散射计算和电子群测量；再为各类过程设定物理合理的阈值与能量依赖；随后在已有证据允许范围内，用纯气体及Ar、N2混合气的群参数调整部分幅值；最后借助MAGBOLTZ计算漂移与净反应参数，并用DEGRAD检验高能降能过程的W约束。不是所有通道都由同一组实验直接测得，也不是所有对比都属于完全独立验证。</a:t>
            </a:r>
          </a:p>
          <a:p/>
          <a:p>
            <a:r>
              <a:t>依据：[1]§3.1-3.3、§4.1-4.6。</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第7页</a:t>
            </a:r>
          </a:p>
          <a:p/>
          <a:p>
            <a:r>
              <a:t>图2横轴为电子能量，纵轴为截面，均为对数坐标。黑色是总弹性和弹性动量转移加转动过程，绿色是振动和超弹性振动，蓝色是不同类型电子激发，红色是附着与电离。作者按碰撞类别求和来改善可读性，实际模型中包含多个激发通道。因此这张图适合讲整体能区分工，但不能从一条绿色曲线推断只有一个振动能级。接下来分别讨论阈值、形状和幅值是怎样被确定的。</a:t>
            </a:r>
          </a:p>
          <a:p/>
          <a:p>
            <a:r>
              <a:t>依据：[1]图2及§3.1，原刊pp.2-4。</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第8页</a:t>
            </a:r>
          </a:p>
          <a:p/>
          <a:p>
            <a:r>
              <a:t>实验部分采用脉冲Townsend方法获得电子电流，再由理论电流模型拟合提取体漂移速度和按数密度归一化的有效电离速率系数。文中新增377 Pa纯气体测量以扩展较高场区。模拟方面，MAGBOLTZ基于截面进行Monte Carlo计算，生成同类型电子群参数，再比较纯气体及Ar、N2稀释条件。DEGRAD用于另一层面的高能降能与W值检查，这一步关闭附着。不能把示例中其他PT论文的仪器或评估模型创新直接归给本文；本文重点在截面集构建及一致性，而不是声称发明了新的PT装置。</a:t>
            </a:r>
          </a:p>
          <a:p/>
          <a:p>
            <a:r>
              <a:t>依据：[1]§2、§3.2-3.3，原刊pp.2、4-7。</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第9页</a:t>
            </a:r>
          </a:p>
          <a:p/>
          <a:p>
            <a:r>
              <a:t>左图比较纯C4F7N的体漂移速度，右图比较按数密度归一化的有效电离速率系数。新测量377 Pa数据扩展了较高场区；作者认为超过约1050 Td的偏离很可能与测量评估和带宽问题有关。右图零线交点对应净电子生成率为零，作者引用的实验临界约化场为975±15 Td，计算能够很好复现。还应提醒听众，图3的2%误差条是作者为展示符合程度任意设定的，不能将它作为完整精度声明。群参数也参与了截面调整，因此宜称一致性检验，不能把所有图都当作完全独立盲验证。</a:t>
            </a:r>
          </a:p>
          <a:p/>
          <a:p>
            <a:r>
              <a:t>依据：[1]图3-4、§3.2、§4.1，原刊pp.4-7。</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第10页</a:t>
            </a:r>
          </a:p>
          <a:p/>
          <a:p>
            <a:r>
              <a:t>图8给出N2混合气有效电离速率，不同浓度的计算与实验在场强依赖上仍有差异。现有证据既不能排除测量问题，也不能排除低能截面误差。低场实验难点是强附着使到达阳极的电子减少，信号边沿难分辨；减小间隙会受到测量带宽限制，降低气压又增大扩散和边界损失。作者还指出分子内振动重分配等过程没有纳入，因为数据不够。因此本文的意义是推进了物理约束下的完整截面集，但远没有终结低能数据研究。</a:t>
            </a:r>
          </a:p>
          <a:p/>
          <a:p>
            <a:r>
              <a:t>依据：[1]图8、§4.2-4.3、§5，原刊pp.7-10。</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第11页</a:t>
            </a:r>
          </a:p>
          <a:p/>
          <a:p>
            <a:r>
              <a:t>第一篇的主要结论有三点。其一，构建了涵盖弹性、振动、附着、电子激发和电离的C4F7N截面集，并在相关Monte Carlo工具中实现，文中也说明数据库可用性。其二，所计算的漂移和有效反应参数与主要群数据表现出良好一致性，纯气体实验临界场也可复现，但部分低浓度混合气依然有差异。其三，通过理论能量依赖和能量损失约束扩展了高能适用性，而低能绝对数据仍不足。这些是作者实际完成的结论；不宜升级为所有分通道都唯一准确或所有应用已验证。</a:t>
            </a:r>
          </a:p>
          <a:p/>
          <a:p>
            <a:r>
              <a:t>依据：[1]§3.2、§5，原刊pp.4-7、10。</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第12页</a:t>
            </a:r>
          </a:p>
          <a:p/>
          <a:p>
            <a:r>
              <a:t>我认为应把第一篇的创新讲到具体改进上，而不是说“用了Monte Carlo就是创新”。第一，作者针对已有截面的物理形状和高能问题，把谱学、散射及理论边界与群数据结合；第二，补足高能激发和多重电离等损失过程，并以渐近W目标检查整体能量账；第三，将C4F7N数据落实到MAGBOLTZ和DEGRAD，为探测器等更宽能区计算提供基础。这些贡献主要属于截面数据构建、物理一致性和工具可用性，而不是首次提出Born、BEf或Monte Carlo理论。</a:t>
            </a:r>
          </a:p>
          <a:p/>
          <a:p>
            <a:r>
              <a:t>依据：[1]§1、§3-5。</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第13页</a:t>
            </a:r>
          </a:p>
          <a:p/>
          <a:p>
            <a:r>
              <a:t>第二篇将作者已有轴对称流体模型扩展到曲线电极，使用AMReX嵌入边界表示圆柱与半球组合的针电极。这对于局部突起或针板结构十分重要，因为电极本身就会产生显著场增强。计算域沿两个方向均为16 mm，电极半径1 mm、总长3.4 mm，因此轴向有效间隙为12.6 mm。本页示意图仅说明结构和尺寸，不是仿真结果，也不按比例。作者先做空气正流注的代码间基准，再研究强附着气体的负流注。</a:t>
            </a:r>
          </a:p>
          <a:p/>
          <a:p>
            <a:r>
              <a:t>依据：[2]§1.3、§3.1、§4.1，原刊pp.2-3、7-8。</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第14页</a:t>
            </a:r>
          </a:p>
          <a:p/>
          <a:p>
            <a:r>
              <a:t>电子通量由电场漂移和密度梯度扩散构成，电子数密度变化同时受到净电离、复合与光电离影响。正负离子由相应反应方程描述，电势由空间电荷通过泊松方程求解，再由电势梯度得到电场。文中使用局部场近似，将输运与反应系数写为局部E/N的函数。这里显示一般方程；第三组强附着气体比较不包含光电离和解附着，复合仅在少量正则化算例中加入。必须把一般模型与实际比较工况的开关区分开。</a:t>
            </a:r>
          </a:p>
          <a:p/>
          <a:p>
            <a:r>
              <a:t>依据：[2]式(1)-(5)、§2及§4.4，原刊pp.2-3、11。</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第15页</a:t>
            </a:r>
          </a:p>
          <a:p/>
          <a:p>
            <a:r>
              <a:t>数值方面，作者利用AMReX嵌入边界处理曲线电极，并调整椭圆算子系数体现轴对称度量项；近电极采用密度阈值转换和部分算例中的缩放复合进行正则化。左图是空气正流注与Afivo-streamer的代码间基准，验证数值实现，但不能替代混合气实验验证。强附着气体比较采用同一针板几何、四种气体和三档背景场，百分比均相对SF6临界场。初始电子和正离子数密度为10的13次方每立方米，不含光电离与解附着。C4F7N截面来自XJTUAETLab、对应Zhang等2023年工作，CO2来自Biagi，未使用2026年第一篇的新截面。</a:t>
            </a:r>
          </a:p>
          <a:p/>
          <a:p>
            <a:r>
              <a:t>依据：[2]图1，§3、§4.1、§4.4及参考文献[94]-[96]。</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第16页</a:t>
            </a:r>
          </a:p>
          <a:p/>
          <a:p>
            <a:r>
              <a:t>为压缩汇报，这一页选择原文图9的90%和70%两档代表背景场，完整三档的跨隙结果在后面的结论表给出。90%时，SF6、10%和15%C4F7N配比均跨隙，而20%配比熄灭。70%时只有10%配比跨隙，SF6与15%配比的熄灭表现接近，20%更早熄灭。80%时的跨隙类别与90%相同。该比较体现20%配比更强的传播抑制，15%与SF6较接近；所有比例均相对同一SF6临界场，而非各混合气的自身临界场。流注跨隙不等同于已经模拟完火花或热击穿。</a:t>
            </a:r>
          </a:p>
          <a:p/>
          <a:p>
            <a:r>
              <a:t>依据：[2]图9(a)、(c)、§4.4；80%结果见图9(b)。</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第17页</a:t>
            </a:r>
          </a:p>
          <a:p/>
          <a:p>
            <a:r>
              <a:t>上图是原文图14的电场分布，下图是图15的电子密度。强附着快速消耗通道电子，形成相对孤立的流注头，近电极又能形成新的头部。作者用最大场强所在位置z_max定义长度，L=z_max-3.4 mm。当新的头部场强超过旧头部时，全局最大值位置会切换，导致长度曲线跳变。这是一个指标定义和空间结构共同造成的现象，不能解释为前沿整体后退。作者还与Afivo-streamer比较了一个重复流注算例，但仍应对近电极正则化、网格和反应机理做敏感性审查。</a:t>
            </a:r>
          </a:p>
          <a:p/>
          <a:p>
            <a:r>
              <a:t>依据：[2]图14-15、图32，§3.2、§4.4，原刊pp.4-7、11-16、22-23。</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第18页</a:t>
            </a:r>
          </a:p>
          <a:p/>
          <a:p>
            <a:r>
              <a:t>这一页单独归纳第二篇的结论，便于与方法和创新分开。四种气体在三档背景场下的跨隙和熄灭结果如表所示，背景场百分比始终相对SF6临界场。15%混合气与SF6不仅在是否跨隙上相同，在最低场下的熄灭长度和时间也较接近；20%混合气在三档背景场下均未跨隙。作者因此认为前者与SF6介电表现相近，后者可能更强。流注跨隙只是本模型关注的传播结果，不能直接升级为任意工程设备的击穿等级，也没有覆盖完整火花形成或热效应。</a:t>
            </a:r>
          </a:p>
          <a:p/>
          <a:p>
            <a:r>
              <a:t>依据：[2]图9-11、§4.4、§5。</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第19页</a:t>
            </a:r>
          </a:p>
          <a:p/>
          <a:p>
            <a:r>
              <a:t>第二篇的创新必须与其2024年前期工作区分开。本文自己明确说，已存在轴对称AMReX流注模型，这次扩展到曲线电极。因此贡献首先是嵌入边界几何及其轴对称椭圆算子的具体实现；其次是近电极非物理密度积累的处理讨论与代码间基准；最后是在统一针板工况下比较SF6及不同CO2-C4F7N比例，展示传播、熄灭和重复流注头的关系。重复头部在前人研究中已有报道，不能说本文首次发现。复合处理在本文部分算例中主要作为正则化手段，也不代表复合系数已被独立实验充分确定。</a:t>
            </a:r>
          </a:p>
          <a:p/>
          <a:p>
            <a:r>
              <a:t>依据：[2]§1.3、§3、§4.4、§5。</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第20页</a:t>
            </a:r>
          </a:p>
          <a:p/>
          <a:p>
            <a:r>
              <a:t>把两篇文章连在一起时，最重要的是尊重它们实际完成的工作。第一篇构建多源约束的新截面集，第二篇展示较早输运数据进入非均匀放电模型后的结果。第二篇发表得更早，未使用第一篇数据，因而不能用其流注结果宣称新截面已经通过放电应用验证。真正值得开展的是同模型条件下的新旧数据替换，区分输运数据差异与模型实现、初始条件或数值误差。如果仅替换截面就改变了配比排序，这会直接提示后续测量需要优先关注哪些通道。</a:t>
            </a:r>
          </a:p>
          <a:p/>
          <a:p>
            <a:r>
              <a:t>依据：[1]§3-5；[2]§2、§4.1、§4.4。</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第21页</a:t>
            </a:r>
          </a:p>
          <a:p/>
          <a:p>
            <a:r>
              <a:t>建议将最小研究任务限定为一个可重复闭环。首先审计新旧截面的通道、阈值和单位，不能把文件格式差异当成物理差异。随后在同一求解框架、组分与温度条件下计算群参数，并核对体参数和通量参数、纵向与横向扩散等定义。最后选择一个已经验证的流注工况，只替换输入系数表，比较头部场、传播距离和熄灭时间。如果差异明显，再分别扰动附着、振动及电子激发通道，寻找对结论最敏感的能区；如果差异很小，则优先扩大工况，而不是声称新旧数据完全等价。</a:t>
            </a:r>
          </a:p>
          <a:p/>
          <a:p>
            <a:r>
              <a:t>依据：依据[1]§3-5、[2]§2、§4；尚未执行该方案。</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第22页</a:t>
            </a:r>
          </a:p>
          <a:p/>
          <a:p>
            <a:r>
              <a:t>前两项是本次详细介绍的两篇论文，第三项是本轮大研究背景的主要参考，即用户提供的2024年温州高压电器会议报告。会议报告中的成果应归属报告作者及其引用团队，不能表述为我个人已经完成的工作。会议幻灯片按实际文件页序引用；论文页码按原刊页码引用。图为原文裁切，背景关系图与整理表格为本次汇报重绘。全稿22页，文本指定黑体SimHei，化学式和单位使用原生上下标，同时提供PDF和图像放映兼容版。</a:t>
            </a:r>
          </a:p>
          <a:p/>
          <a:p>
            <a:r>
              <a:t>依据：[1]、[2]完整论文及[3]用户提供会议报告。</a:t>
            </a:r>
          </a:p>
          <a:p/>
          <a:p>
            <a:r>
              <a:t>本页为图像兼容版；需修改文字请使用可编辑版。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SimHei"/>
          <a:ea typeface="SimHei"/>
          <a:cs typeface="SimHei"/>
        </a:defRPr>
      </a:lvl1pPr>
    </p:titleStyle>
    <p:bodyStyle>
      <a:lvl1pPr marL="342900" indent="-342900" algn="l" defTabSz="457200" rtl="0" eaLnBrk="1" latinLnBrk="0" hangingPunct="1">
        <a:spcBef>
          <a:spcPct val="20000"/>
        </a:spcBef>
        <a:buFont typeface="SimHei"/>
        <a:buChar char="•"/>
        <a:defRPr sz="3200" kern="1200">
          <a:solidFill>
            <a:schemeClr val="tx1"/>
          </a:solidFill>
          <a:latin typeface="SimHei"/>
          <a:ea typeface="SimHei"/>
          <a:cs typeface="SimHei"/>
        </a:defRPr>
      </a:lvl1pPr>
      <a:lvl2pPr marL="742950" indent="-285750" algn="l" defTabSz="457200" rtl="0" eaLnBrk="1" latinLnBrk="0" hangingPunct="1">
        <a:spcBef>
          <a:spcPct val="20000"/>
        </a:spcBef>
        <a:buFont typeface="SimHei"/>
        <a:buChar char="–"/>
        <a:defRPr sz="2800" kern="1200">
          <a:solidFill>
            <a:schemeClr val="tx1"/>
          </a:solidFill>
          <a:latin typeface="SimHei"/>
          <a:ea typeface="SimHei"/>
          <a:cs typeface="SimHei"/>
        </a:defRPr>
      </a:lvl2pPr>
      <a:lvl3pPr marL="1143000" indent="-228600" algn="l" defTabSz="457200" rtl="0" eaLnBrk="1" latinLnBrk="0" hangingPunct="1">
        <a:spcBef>
          <a:spcPct val="20000"/>
        </a:spcBef>
        <a:buFont typeface="SimHei"/>
        <a:buChar char="•"/>
        <a:defRPr sz="2400" kern="1200">
          <a:solidFill>
            <a:schemeClr val="tx1"/>
          </a:solidFill>
          <a:latin typeface="SimHei"/>
          <a:ea typeface="SimHei"/>
          <a:cs typeface="SimHei"/>
        </a:defRPr>
      </a:lvl3pPr>
      <a:lvl4pPr marL="16002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4pPr>
      <a:lvl5pPr marL="20574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5pPr>
      <a:lvl6pPr marL="25146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6pPr>
      <a:lvl7pPr marL="29718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7pPr>
      <a:lvl8pPr marL="34290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8pPr>
      <a:lvl9pPr marL="3886200" indent="-228600" algn="l" defTabSz="457200" rtl="0" eaLnBrk="1" latinLnBrk="0" hangingPunct="1">
        <a:spcBef>
          <a:spcPct val="20000"/>
        </a:spcBef>
        <a:buFont typeface="SimHei"/>
        <a:buChar char="•"/>
        <a:defRPr sz="2000" kern="1200">
          <a:solidFill>
            <a:schemeClr val="tx1"/>
          </a:solidFill>
          <a:latin typeface="SimHei"/>
          <a:ea typeface="SimHei"/>
          <a:cs typeface="SimHei"/>
        </a:defRPr>
      </a:lvl9pPr>
    </p:bodyStyle>
    <p:otherStyle>
      <a:defPPr>
        <a:defRPr lang="en-US"/>
      </a:defPPr>
      <a:lvl1pPr marL="0" algn="l" defTabSz="457200" rtl="0" eaLnBrk="1" latinLnBrk="0" hangingPunct="1">
        <a:defRPr sz="1800" kern="1200">
          <a:solidFill>
            <a:schemeClr val="tx1"/>
          </a:solidFill>
          <a:latin typeface="SimHei"/>
          <a:ea typeface="SimHei"/>
          <a:cs typeface="SimHei"/>
        </a:defRPr>
      </a:lvl1pPr>
      <a:lvl2pPr marL="457200" algn="l" defTabSz="457200" rtl="0" eaLnBrk="1" latinLnBrk="0" hangingPunct="1">
        <a:defRPr sz="1800" kern="1200">
          <a:solidFill>
            <a:schemeClr val="tx1"/>
          </a:solidFill>
          <a:latin typeface="SimHei"/>
          <a:ea typeface="SimHei"/>
          <a:cs typeface="SimHei"/>
        </a:defRPr>
      </a:lvl2pPr>
      <a:lvl3pPr marL="914400" algn="l" defTabSz="457200" rtl="0" eaLnBrk="1" latinLnBrk="0" hangingPunct="1">
        <a:defRPr sz="1800" kern="1200">
          <a:solidFill>
            <a:schemeClr val="tx1"/>
          </a:solidFill>
          <a:latin typeface="SimHei"/>
          <a:ea typeface="SimHei"/>
          <a:cs typeface="SimHei"/>
        </a:defRPr>
      </a:lvl3pPr>
      <a:lvl4pPr marL="1371600" algn="l" defTabSz="457200" rtl="0" eaLnBrk="1" latinLnBrk="0" hangingPunct="1">
        <a:defRPr sz="1800" kern="1200">
          <a:solidFill>
            <a:schemeClr val="tx1"/>
          </a:solidFill>
          <a:latin typeface="SimHei"/>
          <a:ea typeface="SimHei"/>
          <a:cs typeface="SimHei"/>
        </a:defRPr>
      </a:lvl4pPr>
      <a:lvl5pPr marL="1828800" algn="l" defTabSz="457200" rtl="0" eaLnBrk="1" latinLnBrk="0" hangingPunct="1">
        <a:defRPr sz="1800" kern="1200">
          <a:solidFill>
            <a:schemeClr val="tx1"/>
          </a:solidFill>
          <a:latin typeface="SimHei"/>
          <a:ea typeface="SimHei"/>
          <a:cs typeface="SimHei"/>
        </a:defRPr>
      </a:lvl5pPr>
      <a:lvl6pPr marL="2286000" algn="l" defTabSz="457200" rtl="0" eaLnBrk="1" latinLnBrk="0" hangingPunct="1">
        <a:defRPr sz="1800" kern="1200">
          <a:solidFill>
            <a:schemeClr val="tx1"/>
          </a:solidFill>
          <a:latin typeface="SimHei"/>
          <a:ea typeface="SimHei"/>
          <a:cs typeface="SimHei"/>
        </a:defRPr>
      </a:lvl6pPr>
      <a:lvl7pPr marL="2743200" algn="l" defTabSz="457200" rtl="0" eaLnBrk="1" latinLnBrk="0" hangingPunct="1">
        <a:defRPr sz="1800" kern="1200">
          <a:solidFill>
            <a:schemeClr val="tx1"/>
          </a:solidFill>
          <a:latin typeface="SimHei"/>
          <a:ea typeface="SimHei"/>
          <a:cs typeface="SimHei"/>
        </a:defRPr>
      </a:lvl7pPr>
      <a:lvl8pPr marL="3200400" algn="l" defTabSz="457200" rtl="0" eaLnBrk="1" latinLnBrk="0" hangingPunct="1">
        <a:defRPr sz="1800" kern="1200">
          <a:solidFill>
            <a:schemeClr val="tx1"/>
          </a:solidFill>
          <a:latin typeface="SimHei"/>
          <a:ea typeface="SimHei"/>
          <a:cs typeface="SimHei"/>
        </a:defRPr>
      </a:lvl8pPr>
      <a:lvl9pPr marL="3657600" algn="l" defTabSz="457200" rtl="0" eaLnBrk="1" latinLnBrk="0" hangingPunct="1">
        <a:defRPr sz="1800" kern="1200">
          <a:solidFill>
            <a:schemeClr val="tx1"/>
          </a:solidFill>
          <a:latin typeface="SimHei"/>
          <a:ea typeface="SimHei"/>
          <a:cs typeface="SimHe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C4F7N文献分享（22页防乱码放映版）</dc:title>
  <dc:subject/>
  <dc:creator/>
  <cp:keywords/>
  <dc:description>generated using python-pptx</dc:description>
  <cp:lastModifiedBy/>
  <cp:revision>1</cp:revision>
  <dcterms:created xsi:type="dcterms:W3CDTF">2013-01-27T09:14:16Z</dcterms:created>
  <dcterms:modified xsi:type="dcterms:W3CDTF">2013-01-27T09:15:58Z</dcterms:modified>
  <cp:category/>
</cp:coreProperties>
</file>