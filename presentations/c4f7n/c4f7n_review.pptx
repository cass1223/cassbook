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18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>
  <p:sldMasterIdLst>
    <p:sldMasterId id="2147483648" r:id="rId1"/>
    <p:sldMasterId id="2147483662" r:id="rId3"/>
  </p:sldMasterIdLst>
  <p:notesMasterIdLst>
    <p:notesMasterId r:id="rId5"/>
  </p:notesMasterIdLst>
  <p:handoutMasterIdLst>
    <p:handoutMasterId r:id="rId28"/>
  </p:handoutMasterIdLst>
  <p:sldIdLst>
    <p:sldId id="2647" r:id="rId4"/>
    <p:sldId id="2624" r:id="rId6"/>
    <p:sldId id="3276" r:id="rId7"/>
    <p:sldId id="2626" r:id="rId8"/>
    <p:sldId id="3308" r:id="rId9"/>
    <p:sldId id="3281" r:id="rId10"/>
    <p:sldId id="2675" r:id="rId11"/>
    <p:sldId id="3294" r:id="rId12"/>
    <p:sldId id="3295" r:id="rId13"/>
    <p:sldId id="3296" r:id="rId14"/>
  </p:sldIdLst>
  <p:sldSz cx="12192000" cy="6858000"/>
  <p:notesSz cx="6858000" cy="9144000"/>
  <p:custDataLst>
    <p:tags r:id="rId33"/>
  </p:custDataLst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umimoji="1" sz="2400" b="1" kern="1200">
        <a:solidFill>
          <a:schemeClr val="tx1"/>
        </a:solidFill>
        <a:latin typeface="Times New Roman" panose="02020603050405020304" pitchFamily="18" charset="0"/>
        <a:ea typeface="楷体_GB2312" panose="02010609030101010101" pitchFamily="49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400" b="1" kern="1200">
        <a:solidFill>
          <a:schemeClr val="tx1"/>
        </a:solidFill>
        <a:latin typeface="Times New Roman" panose="02020603050405020304" pitchFamily="18" charset="0"/>
        <a:ea typeface="楷体_GB2312" panose="02010609030101010101" pitchFamily="49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400" b="1" kern="1200">
        <a:solidFill>
          <a:schemeClr val="tx1"/>
        </a:solidFill>
        <a:latin typeface="Times New Roman" panose="02020603050405020304" pitchFamily="18" charset="0"/>
        <a:ea typeface="楷体_GB2312" panose="02010609030101010101" pitchFamily="49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400" b="1" kern="1200">
        <a:solidFill>
          <a:schemeClr val="tx1"/>
        </a:solidFill>
        <a:latin typeface="Times New Roman" panose="02020603050405020304" pitchFamily="18" charset="0"/>
        <a:ea typeface="楷体_GB2312" panose="02010609030101010101" pitchFamily="49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400" b="1" kern="1200">
        <a:solidFill>
          <a:schemeClr val="tx1"/>
        </a:solidFill>
        <a:latin typeface="Times New Roman" panose="02020603050405020304" pitchFamily="18" charset="0"/>
        <a:ea typeface="楷体_GB2312" panose="02010609030101010101" pitchFamily="49" charset="-122"/>
        <a:cs typeface="+mn-cs"/>
      </a:defRPr>
    </a:lvl5pPr>
    <a:lvl6pPr marL="2286000" algn="l" defTabSz="914400" rtl="0" eaLnBrk="1" latinLnBrk="0" hangingPunct="1">
      <a:defRPr kumimoji="1" sz="2400" b="1" kern="1200">
        <a:solidFill>
          <a:schemeClr val="tx1"/>
        </a:solidFill>
        <a:latin typeface="Times New Roman" panose="02020603050405020304" pitchFamily="18" charset="0"/>
        <a:ea typeface="楷体_GB2312" panose="02010609030101010101" pitchFamily="49" charset="-122"/>
        <a:cs typeface="+mn-cs"/>
      </a:defRPr>
    </a:lvl6pPr>
    <a:lvl7pPr marL="2743200" algn="l" defTabSz="914400" rtl="0" eaLnBrk="1" latinLnBrk="0" hangingPunct="1">
      <a:defRPr kumimoji="1" sz="2400" b="1" kern="1200">
        <a:solidFill>
          <a:schemeClr val="tx1"/>
        </a:solidFill>
        <a:latin typeface="Times New Roman" panose="02020603050405020304" pitchFamily="18" charset="0"/>
        <a:ea typeface="楷体_GB2312" panose="02010609030101010101" pitchFamily="49" charset="-122"/>
        <a:cs typeface="+mn-cs"/>
      </a:defRPr>
    </a:lvl7pPr>
    <a:lvl8pPr marL="3200400" algn="l" defTabSz="914400" rtl="0" eaLnBrk="1" latinLnBrk="0" hangingPunct="1">
      <a:defRPr kumimoji="1" sz="2400" b="1" kern="1200">
        <a:solidFill>
          <a:schemeClr val="tx1"/>
        </a:solidFill>
        <a:latin typeface="Times New Roman" panose="02020603050405020304" pitchFamily="18" charset="0"/>
        <a:ea typeface="楷体_GB2312" panose="02010609030101010101" pitchFamily="49" charset="-122"/>
        <a:cs typeface="+mn-cs"/>
      </a:defRPr>
    </a:lvl8pPr>
    <a:lvl9pPr marL="3657600" algn="l" defTabSz="914400" rtl="0" eaLnBrk="1" latinLnBrk="0" hangingPunct="1">
      <a:defRPr kumimoji="1" sz="2400" b="1" kern="1200">
        <a:solidFill>
          <a:schemeClr val="tx1"/>
        </a:solidFill>
        <a:latin typeface="Times New Roman" panose="02020603050405020304" pitchFamily="18" charset="0"/>
        <a:ea typeface="楷体_GB2312" panose="02010609030101010101" pitchFamily="49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5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angelina" initials="a" lastIdx="1" clrIdx="0"/>
  <p:cmAuthor id="1" name="肖高铿" initials="肖高铿" lastIdx="1" clrIdx="0"/>
  <p:cmAuthor id="2" name="孙东伟" initials="孙" lastIdx="1" clrIdx="1"/>
  <p:cmAuthor id="3" name="Francium" initials="F" lastIdx="1" clrIdx="2"/>
  <p:cmAuthor id="4" name="Armei" initials="A" lastIdx="20" clrIdx="3"/>
  <p:cmAuthor id="5" name="admin" initials="c" lastIdx="25" clrIdx="4"/>
  <p:cmAuthor id="6" name="Administrator" initials="A" lastIdx="4" clrIdx="5"/>
  <p:cmAuthor id="7" name="lenovo" initials="l" lastIdx="1" clrIdx="6"/>
  <p:cmAuthor id="8" name="饶毅" initials="饶毅" lastIdx="6" clrIdx="8"/>
  <p:cmAuthor id="9" name="孙 诚" initials="孙" lastIdx="3" clrIdx="9"/>
  <p:cmAuthor id="10" name="fengdong" initials="fd" lastIdx="2" clrIdx="10"/>
  <p:cmAuthor id="11" name="谢超" initials="谢超" lastIdx="8" clrIdx="10"/>
  <p:cmAuthor id="12" name="杨洋1" initials="杨洋1" lastIdx="13" clrIdx="11"/>
  <p:cmAuthor id="14" name="武霁阳" initials="wujy" lastIdx="1" clrIdx="13"/>
  <p:cmAuthor id="15" name="张长虹" initials="zch" lastIdx="1" clrIdx="1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00FF"/>
    <a:srgbClr val="6FAC46"/>
    <a:srgbClr val="8FAADC"/>
    <a:srgbClr val="E7EFC6"/>
    <a:srgbClr val="FFE5D4"/>
    <a:srgbClr val="BDD34A"/>
    <a:srgbClr val="8AA000"/>
    <a:srgbClr val="D0DE86"/>
    <a:srgbClr val="B2C1D6"/>
    <a:srgbClr val="6E87B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67" autoAdjust="0"/>
    <p:restoredTop sz="93951" autoAdjust="0"/>
  </p:normalViewPr>
  <p:slideViewPr>
    <p:cSldViewPr showGuides="1">
      <p:cViewPr varScale="1">
        <p:scale>
          <a:sx n="98" d="100"/>
          <a:sy n="98" d="100"/>
        </p:scale>
        <p:origin x="882" y="78"/>
      </p:cViewPr>
      <p:guideLst>
        <p:guide orient="horz" pos="185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100" d="100"/>
        <a:sy n="100" d="100"/>
      </p:scale>
      <p:origin x="0" y="-3150"/>
    </p:cViewPr>
  </p:sorterViewPr>
  <p:notesViewPr>
    <p:cSldViewPr>
      <p:cViewPr varScale="1">
        <p:scale>
          <a:sx n="82" d="100"/>
          <a:sy n="82" d="100"/>
        </p:scale>
        <p:origin x="3954" y="108"/>
      </p:cViewPr>
      <p:guideLst>
        <p:guide orient="horz" pos="3107"/>
        <p:guide pos="1764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28" Type="http://schemas.openxmlformats.org/officeDocument/2006/relationships/handoutMaster" Target="handoutMasters/handout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ableStyles" Target="tableStyles.xml"/><Relationship Id="rId32" Type="http://schemas.openxmlformats.org/officeDocument/2006/relationships/commentAuthors" Target="commentAuthors.xml"/><Relationship Id="rId33" Type="http://schemas.openxmlformats.org/officeDocument/2006/relationships/tags" Target="tags/tag218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hangingPunct="1">
              <a:defRPr sz="1200"/>
            </a:lvl1pPr>
          </a:lstStyle>
          <a:p>
            <a:pPr>
              <a:defRPr/>
            </a:pPr>
            <a:endParaRPr lang="zh-CN" altLang="en-US">
              <a:latin typeface="微软雅黑" panose="020B0503020204020204" pitchFamily="34" charset="-122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hangingPunct="1">
              <a:defRPr sz="1200"/>
            </a:lvl1pPr>
          </a:lstStyle>
          <a:p>
            <a:pPr>
              <a:defRPr/>
            </a:pPr>
            <a:fld id="{6134A705-093A-43F2-B85F-5541EFF47785}" type="datetimeFigureOut">
              <a:rPr lang="zh-CN" altLang="en-US">
                <a:latin typeface="微软雅黑" panose="020B0503020204020204" pitchFamily="34" charset="-122"/>
              </a:rPr>
            </a:fld>
            <a:endParaRPr lang="zh-CN" altLang="en-US">
              <a:latin typeface="微软雅黑" panose="020B0503020204020204" pitchFamily="34" charset="-122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/>
          <a:lstStyle>
            <a:lvl1pPr algn="r" eaLnBrk="1" hangingPunct="1">
              <a:defRPr sz="1200"/>
            </a:lvl1pPr>
          </a:lstStyle>
          <a:p>
            <a:pPr>
              <a:defRPr/>
            </a:pPr>
            <a:fld id="{8233AAD0-9D9F-4035-8DA4-F26DEF6BA6F6}" type="slidenum">
              <a:rPr lang="zh-CN" altLang="en-US">
                <a:latin typeface="微软雅黑" panose="020B0503020204020204" pitchFamily="34" charset="-122"/>
              </a:rPr>
            </a:fld>
            <a:endParaRPr lang="zh-CN" altLang="en-US">
              <a:latin typeface="微软雅黑" panose="020B0503020204020204" pitchFamily="34" charset="-122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hangingPunct="1">
              <a:defRPr sz="1200"/>
            </a:lvl1pPr>
          </a:lstStyle>
          <a:p>
            <a:pPr>
              <a:defRPr/>
            </a:pPr>
            <a:endParaRPr lang="zh-CN" altLang="en-US">
              <a:latin typeface="微软雅黑" panose="020B0503020204020204" pitchFamily="34" charset="-122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l" eaLnBrk="1" hangingPunct="1">
              <a:defRPr sz="1200" b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277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 eaLnBrk="1" hangingPunct="1">
              <a:defRPr sz="1200" b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14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0700" y="685800"/>
            <a:ext cx="60966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277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 noProof="0"/>
              <a:t>单击此处编辑母版文本样式</a:t>
            </a:r>
            <a:endParaRPr lang="zh-CN" altLang="en-US" noProof="0"/>
          </a:p>
          <a:p>
            <a:pPr lvl="1"/>
            <a:r>
              <a:rPr lang="zh-CN" altLang="en-US" noProof="0"/>
              <a:t>第二级</a:t>
            </a:r>
            <a:endParaRPr lang="zh-CN" altLang="en-US" noProof="0"/>
          </a:p>
          <a:p>
            <a:pPr lvl="2"/>
            <a:r>
              <a:rPr lang="zh-CN" altLang="en-US" noProof="0"/>
              <a:t>第三级</a:t>
            </a:r>
            <a:endParaRPr lang="zh-CN" altLang="en-US" noProof="0"/>
          </a:p>
          <a:p>
            <a:pPr lvl="3"/>
            <a:r>
              <a:rPr lang="zh-CN" altLang="en-US" noProof="0"/>
              <a:t>第四级</a:t>
            </a:r>
            <a:endParaRPr lang="zh-CN" altLang="en-US" noProof="0"/>
          </a:p>
          <a:p>
            <a:pPr lvl="4"/>
            <a:r>
              <a:rPr lang="zh-CN" altLang="en-US" noProof="0"/>
              <a:t>第五级</a:t>
            </a:r>
            <a:endParaRPr lang="zh-CN" altLang="en-US" noProof="0"/>
          </a:p>
        </p:txBody>
      </p:sp>
      <p:sp>
        <p:nvSpPr>
          <p:cNvPr id="3277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 algn="l" eaLnBrk="1" hangingPunct="1">
              <a:defRPr sz="1200" b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3277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 algn="r" eaLnBrk="1" hangingPunct="1">
              <a:defRPr sz="1200" b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fld id="{5CF96F32-7BC1-47AF-B87B-B0259F8FA183}" type="slidenum">
              <a:rPr lang="zh-CN" altLang="en-US"/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第1页：C₄F₇N 的电子碰撞截面与负流注放电特性</a:t>
            </a:r>
          </a:p>
          <a:p>
            <a:r>
              <a:t>建议时长：约 45 秒</a:t>
            </a:r>
          </a:p>
          <a:p/>
          <a:p>
            <a:r>
              <a:t>各位老师、同学好。本次分享两篇与新型环保绝缘气体微观放电参数相关的论文。第一篇由 Metting van Rijn 和 Franck 于 2026 年发表，重点是 C₄F₇N 电子碰撞截面集的构建和电子群参数检验。第二篇由 Simonović 等于 2025 年发表，重点是 SF₆ 和 CO₂–C₄F₇N 混合气体的针板负流注仿真。</a:t>
            </a:r>
          </a:p>
          <a:p>
            <a:r>
              <a:t>我的分享主线是：微观截面如何决定电子输运和反应参数，这些参数又如何影响流注传播及熄灭。两篇论文并不是先提供新数据、再直接应用的关系：2025 年的工作使用的是较早的 C₄F₇N 截面数据。把它们放在一起，是为了讨论一条可继续验证的研究路径。</a:t>
            </a:r>
          </a:p>
          <a:p/>
          <a:p>
            <a:r>
              <a:t>依据与来源：[1] 全文；[2] 全文。封面汇报人和日期留空，供本人填写。</a:t>
            </a:r>
          </a:p>
          <a:p/>
          <a:p>
            <a:r>
              <a:t>参考文献</a:t>
            </a:r>
          </a:p>
          <a:p>
            <a:r>
              <a:t>[1] Metting van Rijn M, Franck C M. Electron scattering cross sections of the fluoronitrile C₄F₇N. J. Phys. D: Appl. Phys. 59 (2026) 125201. DOI: 10.1088/1361-6463/ae4fd8.</a:t>
            </a:r>
          </a:p>
          <a:p>
            <a:r>
              <a:t>[2] Simonović I, Bošnjaković D, Dujko S. Axisymmetric fluid simulations of negative streamers in SF₆ and in CO₂–C₄F₇N mixtures in the pin-to-plane electrode configuration. Plasma Sources Sci. Technol. 34 (2025) 125004. DOI: 10.1088/1361-6595/ae2209.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第2页：共同问题：如何把微观数据连到绝缘评价？</a:t>
            </a:r>
          </a:p>
          <a:p>
            <a:r>
              <a:t>建议时长：约 90 秒</a:t>
            </a:r>
          </a:p>
          <a:p/>
          <a:p>
            <a:r>
              <a:t>首先明确几个尺度。电子与分子碰撞的输入是随碰撞能量变化的截面 σⱼ(ε)；在给定气体组分、温度和约化电场 E/N 后，求解电子动力学问题，才能获得漂移、扩散及电离和附着等电子群参数。将与模型定义一致的系数输入流注模型，才能讨论空间电荷、电场增强与传播过程。</a:t>
            </a:r>
          </a:p>
          <a:p>
            <a:r>
              <a:t>第一篇主要测量和比较体漂移速度 W_b，以及按气体数密度归一化的有效电离速率系数 k_eff=(ν_i−ν_a)/N。k_eff 的单位是 m³/s。第二篇流体模型采用迁移率、扩散系数和 Townsend 电离、附着系数等；α−η 的单位是 m⁻¹。这些量相关，但不能混用名称、单位及体参数/通量参数定义。</a:t>
            </a:r>
          </a:p>
          <a:p>
            <a:r>
              <a:t>特别要区分均匀场中净电子生成率为零的临界约化场，与非均匀场下流注能否跨越间隙。后者还依赖电极、初始电离及空间电荷。</a:t>
            </a:r>
          </a:p>
          <a:p/>
          <a:p>
            <a:r>
              <a:t>依据与来源：[1] §2–3.2，原刊 pp.2–6；[2] §2、§4.1，原刊 pp.2–3、7–8。</a:t>
            </a:r>
          </a:p>
          <a:p/>
          <a:p>
            <a:r>
              <a:t>参考文献</a:t>
            </a:r>
          </a:p>
          <a:p>
            <a:r>
              <a:t>[1] Metting van Rijn M, Franck C M. Electron scattering cross sections of the fluoronitrile C₄F₇N. J. Phys. D: Appl. Phys. 59 (2026) 125201. DOI: 10.1088/1361-6463/ae4fd8.</a:t>
            </a:r>
          </a:p>
          <a:p>
            <a:r>
              <a:t>[2] Simonović I, Bošnjaković D, Dujko S. Axisymmetric fluid simulations of negative streamers in SF₆ and in CO₂–C₄F₇N mixtures in the pin-to-plane electrode configuration. Plasma Sources Sci. Technol. 34 (2025) 125004. DOI: 10.1088/1361-6595/ae2209.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第3页：文献一：用多源证据构建完整截面集</a:t>
            </a:r>
          </a:p>
          <a:p>
            <a:r>
              <a:t>建议时长：约 110 秒</a:t>
            </a:r>
          </a:p>
          <a:p/>
          <a:p>
            <a:r>
              <a:t>左图是第一篇的图 2，横轴为电子能量，纵轴为碰撞截面。曲线按碰撞类型求和，因而不能把图中一条振动曲线理解成只有一个振动能级。黑色是弹性相关过程，绿色是振动及超弹性过程，蓝色是电子激发，红色是附着和电离。</a:t>
            </a:r>
          </a:p>
          <a:p>
            <a:r>
              <a:t>构建方法并不是把所有通道都自由拟合。弹性通道用偶极散射、已有散射计算和输运实验共同约束；100 eV 以下，由于实验不足，作者假设总弹性截面与弹性动量转移截面相同。振动激发阈值取自电子能量损失谱，六组阈值为 65、88、122、155、279、443 meV；Born–dipole 形式加共振给出形状，但绝对幅值仍缺少充分的独立约束。附着过程依赖低能离子信号和电子群数据。电子激发结合光学振子强度和 BEf 标度。电离以 12.7 eV 为阈值，借助 C₂F₆ 数据缩放并纳入多重电离和 K 壳层过程。</a:t>
            </a:r>
          </a:p>
          <a:p>
            <a:r>
              <a:t>值得借鉴的是：尽可能先由谱学和散射理论固定阈值与形状，再在物理允许范围内用群参数调整幅值。</a:t>
            </a:r>
          </a:p>
          <a:p/>
          <a:p>
            <a:r>
              <a:t>依据与来源：[1] 图2，表1–2，§3.1，原刊 pp.2–4。图2为原文裁切，未重绘数据。</a:t>
            </a:r>
          </a:p>
          <a:p/>
          <a:p>
            <a:r>
              <a:t>参考文献</a:t>
            </a:r>
          </a:p>
          <a:p>
            <a:r>
              <a:t>[1] Metting van Rijn M, Franck C M. Electron scattering cross sections of the fluoronitrile C₄F₇N. J. Phys. D: Appl. Phys. 59 (2026) 125201. DOI: 10.1088/1361-6463/ae4fd8.</a:t>
            </a:r>
          </a:p>
          <a:p>
            <a:r>
              <a:t>[2] Simonović I, Bošnjaković D, Dujko S. Axisymmetric fluid simulations of negative streamers in SF₆ and in CO₂–C₄F₇N mixtures in the pin-to-plane electrode configuration. Plasma Sources Sci. Technol. 34 (2025) 125004. DOI: 10.1088/1361-6595/ae2209.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第4页：文献一：群参数符合良好，但要分清证据强度</a:t>
            </a:r>
          </a:p>
          <a:p>
            <a:r>
              <a:t>建议时长：约 110 秒</a:t>
            </a:r>
          </a:p>
          <a:p/>
          <a:p>
            <a:r>
              <a:t>这一页看两个纯气体结果。左边原文图 3 比较体漂移速度，右边图 4 比较有效电离速率系数。右图与零线交点相对应的纯 C₄F₇N 临界约化场，在作者引用的实验中为 975±15 Td，计算能够准确复现。这个数值属于纯气体、均匀场净电离平衡条件，不能直接当成混合气体针板放电阈值。</a:t>
            </a:r>
          </a:p>
          <a:p>
            <a:r>
              <a:t>作者将群参数计算工具 MAGBOLTZ 与 PT 实验进行比较。需要注意，这些群参数也是调整截面时使用的约束之一，所以这里更适合称为一致性检验，而不能把所有比较都当成完全独立的盲验证。图 3 的 2% 和多数混合气漂移速度图的 5% 误差条，是作者为了展示符合程度而任意设定的，不能将其解释为完整的实验不确定度预算或所有工况下的精度。</a:t>
            </a:r>
          </a:p>
          <a:p>
            <a:r>
              <a:t>此外，DEGRAD 给出约 31 eV/离子对的 W 值。作者明确说此值是基于氟碳气体合理范围所设定的目标，并通过调节高能电子激发通道使其满足；不是新的独立实验测量。W 值计算时还关闭了附着过程，因此也不能据此推断强附着气体的实际电荷收集效率。</a:t>
            </a:r>
          </a:p>
          <a:p/>
          <a:p>
            <a:r>
              <a:t>依据与来源：[1] 图3–4，§3.2–3.3、§4.6，原刊 pp.4–7、10。</a:t>
            </a:r>
          </a:p>
          <a:p/>
          <a:p>
            <a:r>
              <a:t>参考文献</a:t>
            </a:r>
          </a:p>
          <a:p>
            <a:r>
              <a:t>[1] Metting van Rijn M, Franck C M. Electron scattering cross sections of the fluoronitrile C₄F₇N. J. Phys. D: Appl. Phys. 59 (2026) 125201. DOI: 10.1088/1361-6463/ae4fd8.</a:t>
            </a:r>
          </a:p>
          <a:p>
            <a:r>
              <a:t>[2] Simonović I, Bošnjaković D, Dujko S. Axisymmetric fluid simulations of negative streamers in SF₆ and in CO₂–C₄F₇N mixtures in the pin-to-plane electrode configuration. Plasma Sources Sci. Technol. 34 (2025) 125004. DOI: 10.1088/1361-6595/ae2209.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第5页：文献一：低能数据与参数可辨识性仍是瓶颈</a:t>
            </a:r>
          </a:p>
          <a:p>
            <a:r>
              <a:t>建议时长：约 100 秒</a:t>
            </a:r>
          </a:p>
          <a:p/>
          <a:p>
            <a:r>
              <a:t>左边图 8 是 N₂ 稀释混合气体的有效电离速率系数，不同颜色对应不同 C₄F₇N 浓度，实线是计算结果。作者指出，低浓度条件下实验与计算的场强依赖并不完全一致，可能来自实验问题，也可能来自低能截面的不准确。现有资料不足以把所有差异唯一归因于某个通道。</a:t>
            </a:r>
          </a:p>
          <a:p>
            <a:r>
              <a:t>文章中更关键的一点是：纯 C₄F₇N 数据不能唯一约束低于 2 eV 的附着通道与约 7.6 eV 共振通道的相对幅值；增加一个、降低另一个，仍可能在实验不确定度内得到相近结果。这说明群参数吻合，并不自动证明每个分通道截面都唯一正确。</a:t>
            </a:r>
          </a:p>
          <a:p>
            <a:r>
              <a:t>作者指出，电子能量低于 10 eV 的可用输运约束仍稀少；强附着使低场 PT 测量困难，减小气压又会增强扩散和边界损失。因此，对我研究最直接的启发是设计多配比、多稀释气和多观测量的联合约束，并争取绝对散射截面及总附着信号，而不是只依靠单条漂移速度曲线。右侧建议属于本次汇报的研究思考，并非论文已经完成的工作。</a:t>
            </a:r>
          </a:p>
          <a:p/>
          <a:p>
            <a:r>
              <a:t>依据与来源：[1] 图8，§4.1–4.3、§5，原刊 pp.7–9、10。</a:t>
            </a:r>
          </a:p>
          <a:p/>
          <a:p>
            <a:r>
              <a:t>参考文献</a:t>
            </a:r>
          </a:p>
          <a:p>
            <a:r>
              <a:t>[1] Metting van Rijn M, Franck C M. Electron scattering cross sections of the fluoronitrile C₄F₇N. J. Phys. D: Appl. Phys. 59 (2026) 125201. DOI: 10.1088/1361-6463/ae4fd8.</a:t>
            </a:r>
          </a:p>
          <a:p>
            <a:r>
              <a:t>[2] Simonović I, Bošnjaković D, Dujko S. Axisymmetric fluid simulations of negative streamers in SF₆ and in CO₂–C₄F₇N mixtures in the pin-to-plane electrode configuration. Plasma Sources Sci. Technol. 34 (2025) 125004. DOI: 10.1088/1361-6595/ae2209.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第6页：文献二：从局部输运系数到针板负流注</a:t>
            </a:r>
          </a:p>
          <a:p>
            <a:r>
              <a:t>建议时长：约 120 秒</a:t>
            </a:r>
          </a:p>
          <a:p/>
          <a:p>
            <a:r>
              <a:t>第二篇工作的主要方法创新是将 AMReX 的嵌入边界功能用于曲线电极，建立轴对称一阶流体模型。电子由漂移–扩散–反应方程描述，电场由电子、正离子和负离子的空间电荷通过泊松方程自洽求解。迁移率、扩散系数以及电离和附着系数使用局部场近似，因此截面或输运数据的不确定度会沿着模型向流注结果传递。</a:t>
            </a:r>
          </a:p>
          <a:p>
            <a:r>
              <a:t>第三组工况比较 SF₆ 和 CO₂/C₄F₇N 的 90/10、85/15、80/20 混合气体。计算域沿两个方向均为 16 mm，电极半径 1 mm，总长度 3.4 mm，有效轴向间隙为 12.6 mm。背景场取 SF₆ 临界场的 90%、80%、70%，分别约为 324.9、288.8、252.7 Td；注意这是同一 SF₆ 参考场，不是每种混合气各自临界场的百分比。初始电子和正离子均匀数密度为 10¹³ m⁻³；该组不含光电离，也完全忽略解附着。</a:t>
            </a:r>
          </a:p>
          <a:p>
            <a:r>
              <a:t>右下图是空气正流注的代码间基准比较，用于验证数值实现。它不能替代混合气真实放电实验验证。另外，C₄F₇N 的截面来源是 XJTUAETLab/Zhang 2023，CO₂ 来源为 Biagi，并非第一篇 2026 截面集。</a:t>
            </a:r>
          </a:p>
          <a:p/>
          <a:p>
            <a:r>
              <a:t>依据与来源：[2] 式(1)–(5)，§3–4.2、图1，原刊 pp.2–8；数据来源见§4.1和参考文献[94]–[96]。</a:t>
            </a:r>
          </a:p>
          <a:p/>
          <a:p>
            <a:r>
              <a:t>参考文献</a:t>
            </a:r>
          </a:p>
          <a:p>
            <a:r>
              <a:t>[1] Metting van Rijn M, Franck C M. Electron scattering cross sections of the fluoronitrile C₄F₇N. J. Phys. D: Appl. Phys. 59 (2026) 125201. DOI: 10.1088/1361-6463/ae4fd8.</a:t>
            </a:r>
          </a:p>
          <a:p>
            <a:r>
              <a:t>[2] Simonović I, Bošnjaković D, Dujko S. Axisymmetric fluid simulations of negative streamers in SF₆ and in CO₂–C₄F₇N mixtures in the pin-to-plane electrode configuration. Plasma Sources Sci. Technol. 34 (2025) 125004. DOI: 10.1088/1361-6595/ae2209.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第7页：文献二：20% 配比更能抑制流注跨越间隙</a:t>
            </a:r>
          </a:p>
          <a:p>
            <a:r>
              <a:t>建议时长：约 110 秒</a:t>
            </a:r>
          </a:p>
          <a:p/>
          <a:p>
            <a:r>
              <a:t>上方是原文图 9 的三个子图。横轴为时间，纵轴为按电场最大值位置定义的流注长度。三列分别对应 90%、80%、70% 的 SF₆ 临界场。黑色为 SF₆，红色为 10% C₄F₇N，蓝色为 15%，青色为 20%。</a:t>
            </a:r>
          </a:p>
          <a:p>
            <a:r>
              <a:t>在较高的两个背景场，SF₆、10% 和 15% 的流注都能跨越间隙，而 20% 的流注会在到达平板前熄灭。在最低的 70% 背景场，只有 10% 混合气的流注跨越了间隙；SF₆、15% 和 20% 都会熄灭，其中 SF₆ 与 15% 的熄灭长度、时间较接近，20% 更早熄灭。文中给出的熄灭时间分别约为 6 ns、5.4 ns、3 ns。</a:t>
            </a:r>
          </a:p>
          <a:p>
            <a:r>
              <a:t>这就是作者认为 15% 混合气与 SF₆ 介电表现相近，而 20% 混合气有更强介电潜力的主要依据。应明确说是在所模拟的针板负流注工况下，而不是已经证明任意装置或任意配比均优于 SF₆。这里用流注跨隙来评价传播抑制，不能等同于已经模拟完成后续火花或热击穿过程。</a:t>
            </a:r>
          </a:p>
          <a:p/>
          <a:p>
            <a:r>
              <a:t>依据与来源：[2] 图9，§4.4和§5，原刊 pp.11–13、24–25。表格为对原文结果的定性整理，不是新计算。</a:t>
            </a:r>
          </a:p>
          <a:p/>
          <a:p>
            <a:r>
              <a:t>参考文献</a:t>
            </a:r>
          </a:p>
          <a:p>
            <a:r>
              <a:t>[1] Metting van Rijn M, Franck C M. Electron scattering cross sections of the fluoronitrile C₄F₇N. J. Phys. D: Appl. Phys. 59 (2026) 125201. DOI: 10.1088/1361-6463/ae4fd8.</a:t>
            </a:r>
          </a:p>
          <a:p>
            <a:r>
              <a:t>[2] Simonović I, Bošnjaković D, Dujko S. Axisymmetric fluid simulations of negative streamers in SF₆ and in CO₂–C₄F₇N mixtures in the pin-to-plane electrode configuration. Plasma Sources Sci. Technol. 34 (2025) 125004. DOI: 10.1088/1361-6595/ae2209.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第8页：文献二：重复流注头与长度曲线的“跳变”</a:t>
            </a:r>
          </a:p>
          <a:p>
            <a:r>
              <a:t>建议时长：约 100 秒</a:t>
            </a:r>
          </a:p>
          <a:p/>
          <a:p>
            <a:r>
              <a:t>这一页取 80% CO₂–20% C₄F₇N、90% SF₆ 临界背景场的例子，上面是原文图 14 的电场分布，下面是图 15 的电子密度。强附着会快速消耗通道中的自由电子，形成导电性较弱的通道与相对孤立的流注头；近电极区域还会出现后续流注头。</a:t>
            </a:r>
          </a:p>
          <a:p>
            <a:r>
              <a:t>图 9 青色长度曲线的突然下降，并不意味着整个流注在空间中倒退。作者的长度估计采用最大电场位置 z_max，当靠近电极的新流注头电场强于已有流注头时，全局最大值位置会切换，L=z_max−3.4 mm 就会跳变。因此读取曲线必须结合场分布和密度分布，而不能只看一条长度时间线。</a:t>
            </a:r>
          </a:p>
          <a:p>
            <a:r>
              <a:t>与此同时，作者讨论了电极附近的数值密度累积，并采用电子密度阈值转换和部分算例中的缩放复合作用进行正则化。代码间还对强重复流注算例进行了比较，但这仍不意味着所有数值和物理假设的不确定性都已消除。后续做自己的模型时，应检查网格、近电极处理、初始电离和反应机理对结论的影响。</a:t>
            </a:r>
          </a:p>
          <a:p/>
          <a:p>
            <a:r>
              <a:t>依据与来源：[2] 图14–15、图32，§3.2、§4.4，原刊 pp.4–7、11–16、22–23。色标对应同一配比下原文的两种物理量。</a:t>
            </a:r>
          </a:p>
          <a:p/>
          <a:p>
            <a:r>
              <a:t>参考文献</a:t>
            </a:r>
          </a:p>
          <a:p>
            <a:r>
              <a:t>[1] Metting van Rijn M, Franck C M. Electron scattering cross sections of the fluoronitrile C₄F₇N. J. Phys. D: Appl. Phys. 59 (2026) 125201. DOI: 10.1088/1361-6463/ae4fd8.</a:t>
            </a:r>
          </a:p>
          <a:p>
            <a:r>
              <a:t>[2] Simonović I, Bošnjaković D, Dujko S. Axisymmetric fluid simulations of negative streamers in SF₆ and in CO₂–C₄F₇N mixtures in the pin-to-plane electrode configuration. Plasma Sources Sci. Technol. 34 (2025) 125004. DOI: 10.1088/1361-6595/ae2209.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第9页：两篇工作如何衔接：提出可检验的数据更新方案</a:t>
            </a:r>
          </a:p>
          <a:p>
            <a:r>
              <a:t>建议时长：约 110 秒</a:t>
            </a:r>
          </a:p>
          <a:p/>
          <a:p>
            <a:r>
              <a:t>两篇文章的联系可以概括为：第一篇解决输入数据如何构建及约束，第二篇展示输入数据如何进入具有空间电荷反馈的非均匀放电问题。但需要再次强调，第二篇使用的是较早的截面集，没有直接测试第一篇的新截面。</a:t>
            </a:r>
          </a:p>
          <a:p>
            <a:r>
              <a:t>因此，一个适合本研究方向的后续问题是：如果保持输运求解方法、组分、背景场和流注模型其他设置相同，仅替换 C₄F₇N 截面集，电子群参数和流注传播结论会发生多大变化？第一步应先检查通道、阈值、单位和能量网格，避免文件格式或定义差异造成假差异；随后统一动力学计算条件，比较漂移、扩散、净反应及临界场；再把定义相容的系数输入流注模型，比较长度、头部电场和熄灭。</a:t>
            </a:r>
          </a:p>
          <a:p>
            <a:r>
              <a:t>这个方案不是将新数据直接复制到旧模型即可。纯气体 PT 报告体漂移速度，而流体通量方程所需系数要遵循具体闭合定义；还要区分纵向和横向扩散，核对混合气稀释数据。最后可围绕附着、振动和电子激发分别做灵敏度分析，并检查不确定性是否足以改变 15% 与 20% 配比的相对判断。此页全部属于研究建议，尚未执行新仿真。</a:t>
            </a:r>
          </a:p>
          <a:p/>
          <a:p>
            <a:r>
              <a:t>依据与来源：依据：[1] §3–5；[2] §2、§4.1、§4.4。研究方案由本次汇报提出。</a:t>
            </a:r>
          </a:p>
          <a:p/>
          <a:p>
            <a:r>
              <a:t>参考文献</a:t>
            </a:r>
          </a:p>
          <a:p>
            <a:r>
              <a:t>[1] Metting van Rijn M, Franck C M. Electron scattering cross sections of the fluoronitrile C₄F₇N. J. Phys. D: Appl. Phys. 59 (2026) 125201. DOI: 10.1088/1361-6463/ae4fd8.</a:t>
            </a:r>
          </a:p>
          <a:p>
            <a:r>
              <a:t>[2] Simonović I, Bošnjaković D, Dujko S. Axisymmetric fluid simulations of negative streamers in SF₆ and in CO₂–C₄F₇N mixtures in the pin-to-plane electrode configuration. Plasma Sources Sci. Technol. 34 (2025) 125004. DOI: 10.1088/1361-6595/ae2209.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第10页：总结与讨论：从“拟合得到”走向“可信可用”</a:t>
            </a:r>
          </a:p>
          <a:p>
            <a:r>
              <a:t>建议时长：约 90 秒</a:t>
            </a:r>
          </a:p>
          <a:p/>
          <a:p>
            <a:r>
              <a:t>最后总结三点。第一，多源实验和理论约束能提高截面集的物理合理性，但仅有电子群参数吻合，仍不足以保证所有分通道唯一。第一篇尤其提示了低能绝对数据和多配比联合约束的重要性。第二，强附着气体的放电行为取决于空间电荷和非均匀电场，均匀场临界约化场不能直接替代流注传播评价。第二篇在所选工况下支持 15% 配比与 SF₆ 表现相近、20% 配比更能抑制流注跨隙。第三，从新截面到新的工程判断，需要先统一系数定义，再进行数据集替换、模型敏感性分析和独立实验检验。</a:t>
            </a:r>
          </a:p>
          <a:p>
            <a:r>
              <a:t>我认为最值得继续讨论的问题是：哪类新增测量最能区分目前仍具有补偿关系的低能截面？在兼顾 PT 可测性和能量选择性的前提下，应优先选择哪种稀释气、配比和场强区间？以及不同截面集引入的差异，是否足以改变目标配比的绝缘性能排序？以上是我的分享，请各位老师、同学批评指正。</a:t>
            </a:r>
          </a:p>
          <a:p/>
          <a:p>
            <a:r>
              <a:t>依据与来源：结论来自[1] §5、[2] §5；下一步及讨论问题为本次汇报的研究思考。</a:t>
            </a:r>
          </a:p>
          <a:p/>
          <a:p>
            <a:r>
              <a:t>参考文献</a:t>
            </a:r>
          </a:p>
          <a:p>
            <a:r>
              <a:t>[1] Metting van Rijn M, Franck C M. Electron scattering cross sections of the fluoronitrile C₄F₇N. J. Phys. D: Appl. Phys. 59 (2026) 125201. DOI: 10.1088/1361-6463/ae4fd8.</a:t>
            </a:r>
          </a:p>
          <a:p>
            <a:r>
              <a:t>[2] Simonović I, Bošnjaković D, Dujko S. Axisymmetric fluid simulations of negative streamers in SF₆ and in CO₂–C₄F₇N mixtures in the pin-to-plane electrode configuration. Plasma Sources Sci. Technol. 34 (2025) 125004. DOI: 10.1088/1361-6595/ae2209.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.xml"/><Relationship Id="rId3" Type="http://schemas.openxmlformats.org/officeDocument/2006/relationships/tags" Target="../tags/tag2.xml"/><Relationship Id="rId4" Type="http://schemas.openxmlformats.org/officeDocument/2006/relationships/tags" Target="../tags/tag3.xml"/><Relationship Id="rId5" Type="http://schemas.openxmlformats.org/officeDocument/2006/relationships/tags" Target="../tags/tag4.xml"/><Relationship Id="rId6" Type="http://schemas.openxmlformats.org/officeDocument/2006/relationships/tags" Target="../tags/tag5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tags" Target="../tags/tag8.xml"/><Relationship Id="rId5" Type="http://schemas.openxmlformats.org/officeDocument/2006/relationships/tags" Target="../tags/tag9.xml"/><Relationship Id="rId6" Type="http://schemas.openxmlformats.org/officeDocument/2006/relationships/tags" Target="../tags/tag10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tags" Target="../tags/tag14.xml"/><Relationship Id="rId6" Type="http://schemas.openxmlformats.org/officeDocument/2006/relationships/tags" Target="../tags/tag15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6.xml"/><Relationship Id="rId3" Type="http://schemas.openxmlformats.org/officeDocument/2006/relationships/tags" Target="../tags/tag17.xml"/><Relationship Id="rId4" Type="http://schemas.openxmlformats.org/officeDocument/2006/relationships/tags" Target="../tags/tag18.xml"/><Relationship Id="rId5" Type="http://schemas.openxmlformats.org/officeDocument/2006/relationships/tags" Target="../tags/tag19.xml"/><Relationship Id="rId6" Type="http://schemas.openxmlformats.org/officeDocument/2006/relationships/tags" Target="../tags/tag20.xml"/><Relationship Id="rId7" Type="http://schemas.openxmlformats.org/officeDocument/2006/relationships/tags" Target="../tags/tag2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22.xml"/><Relationship Id="rId3" Type="http://schemas.openxmlformats.org/officeDocument/2006/relationships/tags" Target="../tags/tag23.xml"/><Relationship Id="rId4" Type="http://schemas.openxmlformats.org/officeDocument/2006/relationships/tags" Target="../tags/tag24.xml"/><Relationship Id="rId5" Type="http://schemas.openxmlformats.org/officeDocument/2006/relationships/tags" Target="../tags/tag25.xml"/><Relationship Id="rId6" Type="http://schemas.openxmlformats.org/officeDocument/2006/relationships/tags" Target="../tags/tag26.xml"/><Relationship Id="rId7" Type="http://schemas.openxmlformats.org/officeDocument/2006/relationships/tags" Target="../tags/tag27.xml"/><Relationship Id="rId8" Type="http://schemas.openxmlformats.org/officeDocument/2006/relationships/tags" Target="../tags/tag28.xml"/><Relationship Id="rId9" Type="http://schemas.openxmlformats.org/officeDocument/2006/relationships/tags" Target="../tags/tag29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0.xml"/><Relationship Id="rId3" Type="http://schemas.openxmlformats.org/officeDocument/2006/relationships/tags" Target="../tags/tag31.xml"/><Relationship Id="rId4" Type="http://schemas.openxmlformats.org/officeDocument/2006/relationships/tags" Target="../tags/tag32.xml"/><Relationship Id="rId5" Type="http://schemas.openxmlformats.org/officeDocument/2006/relationships/tags" Target="../tags/tag3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4.xml"/><Relationship Id="rId3" Type="http://schemas.openxmlformats.org/officeDocument/2006/relationships/tags" Target="../tags/tag35.xml"/><Relationship Id="rId4" Type="http://schemas.openxmlformats.org/officeDocument/2006/relationships/tags" Target="../tags/tag36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7.xml"/><Relationship Id="rId3" Type="http://schemas.openxmlformats.org/officeDocument/2006/relationships/tags" Target="../tags/tag38.xml"/><Relationship Id="rId4" Type="http://schemas.openxmlformats.org/officeDocument/2006/relationships/tags" Target="../tags/tag39.xml"/><Relationship Id="rId5" Type="http://schemas.openxmlformats.org/officeDocument/2006/relationships/tags" Target="../tags/tag40.xml"/><Relationship Id="rId6" Type="http://schemas.openxmlformats.org/officeDocument/2006/relationships/tags" Target="../tags/tag41.xml"/><Relationship Id="rId7" Type="http://schemas.openxmlformats.org/officeDocument/2006/relationships/tags" Target="../tags/tag4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43.xml"/><Relationship Id="rId3" Type="http://schemas.openxmlformats.org/officeDocument/2006/relationships/tags" Target="../tags/tag44.xml"/><Relationship Id="rId4" Type="http://schemas.openxmlformats.org/officeDocument/2006/relationships/tags" Target="../tags/tag45.xml"/><Relationship Id="rId5" Type="http://schemas.openxmlformats.org/officeDocument/2006/relationships/tags" Target="../tags/tag46.xml"/><Relationship Id="rId6" Type="http://schemas.openxmlformats.org/officeDocument/2006/relationships/tags" Target="../tags/tag47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48.xml"/><Relationship Id="rId3" Type="http://schemas.openxmlformats.org/officeDocument/2006/relationships/tags" Target="../tags/tag49.xml"/><Relationship Id="rId4" Type="http://schemas.openxmlformats.org/officeDocument/2006/relationships/tags" Target="../tags/tag50.xml"/><Relationship Id="rId5" Type="http://schemas.openxmlformats.org/officeDocument/2006/relationships/tags" Target="../tags/tag5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52.xml"/><Relationship Id="rId3" Type="http://schemas.openxmlformats.org/officeDocument/2006/relationships/tags" Target="../tags/tag53.xml"/><Relationship Id="rId4" Type="http://schemas.openxmlformats.org/officeDocument/2006/relationships/tags" Target="../tags/tag54.xml"/><Relationship Id="rId5" Type="http://schemas.openxmlformats.org/officeDocument/2006/relationships/tags" Target="../tags/tag55.xml"/><Relationship Id="rId6" Type="http://schemas.openxmlformats.org/officeDocument/2006/relationships/tags" Target="../tags/tag56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62.xml"/><Relationship Id="rId3" Type="http://schemas.openxmlformats.org/officeDocument/2006/relationships/tags" Target="../tags/tag63.xml"/><Relationship Id="rId4" Type="http://schemas.openxmlformats.org/officeDocument/2006/relationships/tags" Target="../tags/tag64.xml"/><Relationship Id="rId5" Type="http://schemas.openxmlformats.org/officeDocument/2006/relationships/tags" Target="../tags/tag65.xml"/><Relationship Id="rId6" Type="http://schemas.openxmlformats.org/officeDocument/2006/relationships/tags" Target="../tags/tag66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67.xml"/><Relationship Id="rId3" Type="http://schemas.openxmlformats.org/officeDocument/2006/relationships/tags" Target="../tags/tag68.xml"/><Relationship Id="rId4" Type="http://schemas.openxmlformats.org/officeDocument/2006/relationships/tags" Target="../tags/tag69.xml"/><Relationship Id="rId5" Type="http://schemas.openxmlformats.org/officeDocument/2006/relationships/tags" Target="../tags/tag70.xml"/><Relationship Id="rId6" Type="http://schemas.openxmlformats.org/officeDocument/2006/relationships/tags" Target="../tags/tag7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72.xml"/><Relationship Id="rId3" Type="http://schemas.openxmlformats.org/officeDocument/2006/relationships/tags" Target="../tags/tag73.xml"/><Relationship Id="rId4" Type="http://schemas.openxmlformats.org/officeDocument/2006/relationships/tags" Target="../tags/tag74.xml"/><Relationship Id="rId5" Type="http://schemas.openxmlformats.org/officeDocument/2006/relationships/tags" Target="../tags/tag75.xml"/><Relationship Id="rId6" Type="http://schemas.openxmlformats.org/officeDocument/2006/relationships/tags" Target="../tags/tag76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77.xml"/><Relationship Id="rId3" Type="http://schemas.openxmlformats.org/officeDocument/2006/relationships/tags" Target="../tags/tag78.xml"/><Relationship Id="rId4" Type="http://schemas.openxmlformats.org/officeDocument/2006/relationships/tags" Target="../tags/tag79.xml"/><Relationship Id="rId5" Type="http://schemas.openxmlformats.org/officeDocument/2006/relationships/tags" Target="../tags/tag80.xml"/><Relationship Id="rId6" Type="http://schemas.openxmlformats.org/officeDocument/2006/relationships/tags" Target="../tags/tag81.xml"/><Relationship Id="rId7" Type="http://schemas.openxmlformats.org/officeDocument/2006/relationships/tags" Target="../tags/tag8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83.xml"/><Relationship Id="rId3" Type="http://schemas.openxmlformats.org/officeDocument/2006/relationships/tags" Target="../tags/tag84.xml"/><Relationship Id="rId4" Type="http://schemas.openxmlformats.org/officeDocument/2006/relationships/tags" Target="../tags/tag85.xml"/><Relationship Id="rId5" Type="http://schemas.openxmlformats.org/officeDocument/2006/relationships/tags" Target="../tags/tag86.xml"/><Relationship Id="rId6" Type="http://schemas.openxmlformats.org/officeDocument/2006/relationships/tags" Target="../tags/tag87.xml"/><Relationship Id="rId7" Type="http://schemas.openxmlformats.org/officeDocument/2006/relationships/tags" Target="../tags/tag88.xml"/><Relationship Id="rId8" Type="http://schemas.openxmlformats.org/officeDocument/2006/relationships/tags" Target="../tags/tag89.xml"/><Relationship Id="rId9" Type="http://schemas.openxmlformats.org/officeDocument/2006/relationships/tags" Target="../tags/tag90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91.xml"/><Relationship Id="rId3" Type="http://schemas.openxmlformats.org/officeDocument/2006/relationships/tags" Target="../tags/tag92.xml"/><Relationship Id="rId4" Type="http://schemas.openxmlformats.org/officeDocument/2006/relationships/tags" Target="../tags/tag93.xml"/><Relationship Id="rId5" Type="http://schemas.openxmlformats.org/officeDocument/2006/relationships/tags" Target="../tags/tag94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95.xml"/><Relationship Id="rId3" Type="http://schemas.openxmlformats.org/officeDocument/2006/relationships/tags" Target="../tags/tag96.xml"/><Relationship Id="rId4" Type="http://schemas.openxmlformats.org/officeDocument/2006/relationships/tags" Target="../tags/tag97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98.xml"/><Relationship Id="rId3" Type="http://schemas.openxmlformats.org/officeDocument/2006/relationships/tags" Target="../tags/tag99.xml"/><Relationship Id="rId4" Type="http://schemas.openxmlformats.org/officeDocument/2006/relationships/tags" Target="../tags/tag100.xml"/><Relationship Id="rId5" Type="http://schemas.openxmlformats.org/officeDocument/2006/relationships/tags" Target="../tags/tag101.xml"/><Relationship Id="rId6" Type="http://schemas.openxmlformats.org/officeDocument/2006/relationships/tags" Target="../tags/tag102.xml"/><Relationship Id="rId7" Type="http://schemas.openxmlformats.org/officeDocument/2006/relationships/tags" Target="../tags/tag10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104.xml"/><Relationship Id="rId3" Type="http://schemas.openxmlformats.org/officeDocument/2006/relationships/tags" Target="../tags/tag105.xml"/><Relationship Id="rId4" Type="http://schemas.openxmlformats.org/officeDocument/2006/relationships/tags" Target="../tags/tag106.xml"/><Relationship Id="rId5" Type="http://schemas.openxmlformats.org/officeDocument/2006/relationships/tags" Target="../tags/tag107.xml"/><Relationship Id="rId6" Type="http://schemas.openxmlformats.org/officeDocument/2006/relationships/tags" Target="../tags/tag108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109.xml"/><Relationship Id="rId3" Type="http://schemas.openxmlformats.org/officeDocument/2006/relationships/tags" Target="../tags/tag110.xml"/><Relationship Id="rId4" Type="http://schemas.openxmlformats.org/officeDocument/2006/relationships/tags" Target="../tags/tag111.xml"/><Relationship Id="rId5" Type="http://schemas.openxmlformats.org/officeDocument/2006/relationships/tags" Target="../tags/tag11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113.xml"/><Relationship Id="rId3" Type="http://schemas.openxmlformats.org/officeDocument/2006/relationships/tags" Target="../tags/tag114.xml"/><Relationship Id="rId4" Type="http://schemas.openxmlformats.org/officeDocument/2006/relationships/tags" Target="../tags/tag115.xml"/><Relationship Id="rId5" Type="http://schemas.openxmlformats.org/officeDocument/2006/relationships/tags" Target="../tags/tag116.xml"/><Relationship Id="rId6" Type="http://schemas.openxmlformats.org/officeDocument/2006/relationships/tags" Target="../tags/tag117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918" y="914560"/>
            <a:ext cx="9800165" cy="257085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918" y="3561023"/>
            <a:ext cx="9800165" cy="1472657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835" indent="0" algn="ctr">
              <a:buNone/>
              <a:defRPr sz="1600"/>
            </a:lvl7pPr>
            <a:lvl8pPr marL="3201035" indent="0" algn="ctr">
              <a:buNone/>
              <a:defRPr sz="1600"/>
            </a:lvl8pPr>
            <a:lvl9pPr marL="3658235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60" y="608506"/>
            <a:ext cx="10970280" cy="705723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60" y="1490661"/>
            <a:ext cx="10970280" cy="4760033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996" y="3849073"/>
            <a:ext cx="7769565" cy="766934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996" y="4616007"/>
            <a:ext cx="7769565" cy="867751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835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1035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8235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60" y="608506"/>
            <a:ext cx="10970280" cy="705723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60" y="1501463"/>
            <a:ext cx="5177310" cy="4749231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2231" y="1501463"/>
            <a:ext cx="5177310" cy="4749231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60" y="608506"/>
            <a:ext cx="10970280" cy="705723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60" y="1429450"/>
            <a:ext cx="5342926" cy="381666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835" indent="0">
              <a:buNone/>
              <a:defRPr sz="1600" b="1"/>
            </a:lvl7pPr>
            <a:lvl8pPr marL="3201035" indent="0">
              <a:buNone/>
              <a:defRPr sz="1600" b="1"/>
            </a:lvl8pPr>
            <a:lvl9pPr marL="3658235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60" y="1854325"/>
            <a:ext cx="5342926" cy="4396369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6365" y="1421977"/>
            <a:ext cx="5342926" cy="381666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835" indent="0">
              <a:buNone/>
              <a:defRPr sz="1600" b="1"/>
            </a:lvl7pPr>
            <a:lvl8pPr marL="3201035" indent="0">
              <a:buNone/>
              <a:defRPr sz="1600" b="1"/>
            </a:lvl8pPr>
            <a:lvl9pPr marL="3658235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  <a:endParaRPr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6365" y="1854325"/>
            <a:ext cx="5342926" cy="4396369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60" y="608506"/>
            <a:ext cx="10970280" cy="705723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5" name="Rectangle 68"/>
          <p:cNvSpPr>
            <a:spLocks noChangeArrowheads="1"/>
          </p:cNvSpPr>
          <p:nvPr userDrawn="1"/>
        </p:nvSpPr>
        <p:spPr bwMode="auto">
          <a:xfrm>
            <a:off x="0" y="647700"/>
            <a:ext cx="12192000" cy="44450"/>
          </a:xfrm>
          <a:prstGeom prst="rect">
            <a:avLst/>
          </a:prstGeom>
          <a:gradFill flip="none" rotWithShape="1">
            <a:gsLst>
              <a:gs pos="87000">
                <a:srgbClr val="0033CC"/>
              </a:gs>
              <a:gs pos="1000">
                <a:srgbClr val="C00000"/>
              </a:gs>
              <a:gs pos="0">
                <a:srgbClr val="C00000"/>
              </a:gs>
            </a:gsLst>
            <a:lin ang="0" scaled="1"/>
            <a:tileRect/>
          </a:gradFill>
          <a:ln w="9525">
            <a:noFill/>
            <a:miter lim="800000"/>
          </a:ln>
        </p:spPr>
        <p:txBody>
          <a:bodyPr wrap="none" anchor="ctr"/>
          <a:lstStyle>
            <a:lvl1pPr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楷体_GB2312" panose="02010609030101010101" pitchFamily="49" charset="-122"/>
              </a:defRPr>
            </a:lvl1pPr>
            <a:lvl2pPr marL="742950" indent="-285750"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楷体_GB2312" panose="02010609030101010101" pitchFamily="49" charset="-122"/>
              </a:defRPr>
            </a:lvl2pPr>
            <a:lvl3pPr marL="1143000" indent="-228600"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楷体_GB2312" panose="02010609030101010101" pitchFamily="49" charset="-122"/>
              </a:defRPr>
            </a:lvl3pPr>
            <a:lvl4pPr marL="1600200" indent="-228600"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楷体_GB2312" panose="02010609030101010101" pitchFamily="49" charset="-122"/>
              </a:defRPr>
            </a:lvl4pPr>
            <a:lvl5pPr marL="2057400" indent="-228600"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楷体_GB2312" panose="02010609030101010101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楷体_GB2312" panose="02010609030101010101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楷体_GB2312" panose="02010609030101010101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楷体_GB2312" panose="02010609030101010101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楷体_GB2312" panose="02010609030101010101" pitchFamily="49" charset="-122"/>
              </a:defRPr>
            </a:lvl9pPr>
          </a:lstStyle>
          <a:p>
            <a:pPr algn="ctr" eaLnBrk="1" hangingPunct="1">
              <a:defRPr/>
            </a:pPr>
            <a:endParaRPr lang="zh-CN" altLang="en-US" sz="240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60" y="1555472"/>
            <a:ext cx="5233593" cy="4608807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1025" y="1555472"/>
            <a:ext cx="5227715" cy="4608807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5808" y="914560"/>
            <a:ext cx="1044103" cy="503008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90" y="914560"/>
            <a:ext cx="9170103" cy="503008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60" y="774136"/>
            <a:ext cx="10973880" cy="548376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6" name="Rectangle 68"/>
          <p:cNvSpPr>
            <a:spLocks noChangeArrowheads="1"/>
          </p:cNvSpPr>
          <p:nvPr userDrawn="1"/>
        </p:nvSpPr>
        <p:spPr bwMode="auto">
          <a:xfrm>
            <a:off x="0" y="647700"/>
            <a:ext cx="12192000" cy="44450"/>
          </a:xfrm>
          <a:prstGeom prst="rect">
            <a:avLst/>
          </a:prstGeom>
          <a:gradFill flip="none" rotWithShape="1">
            <a:gsLst>
              <a:gs pos="87000">
                <a:srgbClr val="0033CC"/>
              </a:gs>
              <a:gs pos="1000">
                <a:srgbClr val="C00000"/>
              </a:gs>
              <a:gs pos="0">
                <a:srgbClr val="C00000"/>
              </a:gs>
            </a:gsLst>
            <a:lin ang="0" scaled="1"/>
            <a:tileRect/>
          </a:gradFill>
          <a:ln w="9525">
            <a:noFill/>
            <a:miter lim="800000"/>
          </a:ln>
        </p:spPr>
        <p:txBody>
          <a:bodyPr wrap="none" anchor="ctr"/>
          <a:lstStyle>
            <a:lvl1pPr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楷体_GB2312" panose="02010609030101010101" pitchFamily="49" charset="-122"/>
              </a:defRPr>
            </a:lvl1pPr>
            <a:lvl2pPr marL="742950" indent="-285750"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楷体_GB2312" panose="02010609030101010101" pitchFamily="49" charset="-122"/>
              </a:defRPr>
            </a:lvl2pPr>
            <a:lvl3pPr marL="1143000" indent="-228600"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楷体_GB2312" panose="02010609030101010101" pitchFamily="49" charset="-122"/>
              </a:defRPr>
            </a:lvl3pPr>
            <a:lvl4pPr marL="1600200" indent="-228600"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楷体_GB2312" panose="02010609030101010101" pitchFamily="49" charset="-122"/>
              </a:defRPr>
            </a:lvl4pPr>
            <a:lvl5pPr marL="2057400" indent="-228600"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楷体_GB2312" panose="02010609030101010101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楷体_GB2312" panose="02010609030101010101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楷体_GB2312" panose="02010609030101010101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楷体_GB2312" panose="02010609030101010101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楷体_GB2312" panose="02010609030101010101" pitchFamily="49" charset="-122"/>
              </a:defRPr>
            </a:lvl9pPr>
          </a:lstStyle>
          <a:p>
            <a:pPr algn="ctr" eaLnBrk="1" hangingPunct="1">
              <a:defRPr/>
            </a:pPr>
            <a:endParaRPr lang="zh-CN" altLang="en-US" sz="240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918" y="2484435"/>
            <a:ext cx="9800165" cy="1018978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918" y="3561023"/>
            <a:ext cx="9800165" cy="471683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 userDrawn="1"/>
        </p:nvGrpSpPr>
        <p:grpSpPr>
          <a:xfrm>
            <a:off x="394159" y="310888"/>
            <a:ext cx="682341" cy="539179"/>
            <a:chOff x="1801006" y="1526207"/>
            <a:chExt cx="1242672" cy="981947"/>
          </a:xfrm>
        </p:grpSpPr>
        <p:sp>
          <p:nvSpPr>
            <p:cNvPr id="5" name="矩形 4"/>
            <p:cNvSpPr/>
            <p:nvPr userDrawn="1"/>
          </p:nvSpPr>
          <p:spPr>
            <a:xfrm>
              <a:off x="2224301" y="1732937"/>
              <a:ext cx="819377" cy="695740"/>
            </a:xfrm>
            <a:prstGeom prst="rect">
              <a:avLst/>
            </a:prstGeom>
            <a:solidFill>
              <a:srgbClr val="89DFF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/>
                <a:ea typeface="黑体" panose="02010609060101010101" pitchFamily="49" charset="-122"/>
                <a:cs typeface="+mn-cs"/>
              </a:endParaRPr>
            </a:p>
          </p:txBody>
        </p:sp>
        <p:sp>
          <p:nvSpPr>
            <p:cNvPr id="6" name="任意多边形 13"/>
            <p:cNvSpPr/>
            <p:nvPr userDrawn="1"/>
          </p:nvSpPr>
          <p:spPr>
            <a:xfrm>
              <a:off x="1801006" y="1526207"/>
              <a:ext cx="1063935" cy="981947"/>
            </a:xfrm>
            <a:custGeom>
              <a:avLst/>
              <a:gdLst>
                <a:gd name="connsiteX0" fmla="*/ 0 w 2864941"/>
                <a:gd name="connsiteY0" fmla="*/ 0 h 981947"/>
                <a:gd name="connsiteX1" fmla="*/ 2864941 w 2864941"/>
                <a:gd name="connsiteY1" fmla="*/ 0 h 981947"/>
                <a:gd name="connsiteX2" fmla="*/ 2041802 w 2864941"/>
                <a:gd name="connsiteY2" fmla="*/ 981947 h 981947"/>
                <a:gd name="connsiteX3" fmla="*/ 0 w 2864941"/>
                <a:gd name="connsiteY3" fmla="*/ 981947 h 981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64941" h="981947">
                  <a:moveTo>
                    <a:pt x="0" y="0"/>
                  </a:moveTo>
                  <a:lnTo>
                    <a:pt x="2864941" y="0"/>
                  </a:lnTo>
                  <a:lnTo>
                    <a:pt x="2041802" y="981947"/>
                  </a:lnTo>
                  <a:lnTo>
                    <a:pt x="0" y="981947"/>
                  </a:lnTo>
                  <a:close/>
                </a:path>
              </a:pathLst>
            </a:custGeom>
            <a:solidFill>
              <a:srgbClr val="005AA6"/>
            </a:solidFill>
            <a:ln>
              <a:noFill/>
            </a:ln>
            <a:effectLst>
              <a:outerShdw blurRad="50800" dist="38100" algn="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3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/>
                <a:ea typeface="黑体" panose="02010609060101010101" pitchFamily="49" charset="-122"/>
                <a:cs typeface="+mn-c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/>
    </mc:Choice>
    <mc:Fallback>
      <p:transition spd="slow"/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918" y="914560"/>
            <a:ext cx="9800165" cy="257085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918" y="3561023"/>
            <a:ext cx="9800165" cy="1472657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835" indent="0" algn="ctr">
              <a:buNone/>
              <a:defRPr sz="1600"/>
            </a:lvl7pPr>
            <a:lvl8pPr marL="3201035" indent="0" algn="ctr">
              <a:buNone/>
              <a:defRPr sz="1600"/>
            </a:lvl8pPr>
            <a:lvl9pPr marL="3658235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60" y="608506"/>
            <a:ext cx="10970280" cy="705723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60" y="1490661"/>
            <a:ext cx="10970280" cy="4760033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996" y="3849073"/>
            <a:ext cx="7769565" cy="766934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996" y="4616007"/>
            <a:ext cx="7769565" cy="867751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835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1035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8235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60" y="608506"/>
            <a:ext cx="10970280" cy="705723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60" y="1501463"/>
            <a:ext cx="5177310" cy="4749231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2231" y="1501463"/>
            <a:ext cx="5177310" cy="4749231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60" y="608506"/>
            <a:ext cx="10970280" cy="705723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60" y="1429450"/>
            <a:ext cx="5342926" cy="381666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835" indent="0">
              <a:buNone/>
              <a:defRPr sz="1600" b="1"/>
            </a:lvl7pPr>
            <a:lvl8pPr marL="3201035" indent="0">
              <a:buNone/>
              <a:defRPr sz="1600" b="1"/>
            </a:lvl8pPr>
            <a:lvl9pPr marL="3658235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60" y="1854325"/>
            <a:ext cx="5342926" cy="4396369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6365" y="1421977"/>
            <a:ext cx="5342926" cy="381666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835" indent="0">
              <a:buNone/>
              <a:defRPr sz="1600" b="1"/>
            </a:lvl7pPr>
            <a:lvl8pPr marL="3201035" indent="0">
              <a:buNone/>
              <a:defRPr sz="1600" b="1"/>
            </a:lvl8pPr>
            <a:lvl9pPr marL="3658235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  <a:endParaRPr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6365" y="1854325"/>
            <a:ext cx="5342926" cy="4396369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60" y="608506"/>
            <a:ext cx="10970280" cy="705723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5" name="Rectangle 68"/>
          <p:cNvSpPr>
            <a:spLocks noChangeArrowheads="1"/>
          </p:cNvSpPr>
          <p:nvPr userDrawn="1"/>
        </p:nvSpPr>
        <p:spPr bwMode="auto">
          <a:xfrm>
            <a:off x="0" y="647700"/>
            <a:ext cx="12192000" cy="44450"/>
          </a:xfrm>
          <a:prstGeom prst="rect">
            <a:avLst/>
          </a:prstGeom>
          <a:gradFill flip="none" rotWithShape="1">
            <a:gsLst>
              <a:gs pos="87000">
                <a:srgbClr val="0033CC"/>
              </a:gs>
              <a:gs pos="1000">
                <a:srgbClr val="C00000"/>
              </a:gs>
              <a:gs pos="0">
                <a:srgbClr val="C00000"/>
              </a:gs>
            </a:gsLst>
            <a:lin ang="0" scaled="1"/>
            <a:tileRect/>
          </a:gradFill>
          <a:ln w="9525">
            <a:noFill/>
            <a:miter lim="800000"/>
          </a:ln>
        </p:spPr>
        <p:txBody>
          <a:bodyPr wrap="none" anchor="ctr"/>
          <a:lstStyle>
            <a:lvl1pPr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楷体_GB2312" panose="02010609030101010101" pitchFamily="49" charset="-122"/>
              </a:defRPr>
            </a:lvl1pPr>
            <a:lvl2pPr marL="742950" indent="-285750"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楷体_GB2312" panose="02010609030101010101" pitchFamily="49" charset="-122"/>
              </a:defRPr>
            </a:lvl2pPr>
            <a:lvl3pPr marL="1143000" indent="-228600"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楷体_GB2312" panose="02010609030101010101" pitchFamily="49" charset="-122"/>
              </a:defRPr>
            </a:lvl3pPr>
            <a:lvl4pPr marL="1600200" indent="-228600"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楷体_GB2312" panose="02010609030101010101" pitchFamily="49" charset="-122"/>
              </a:defRPr>
            </a:lvl4pPr>
            <a:lvl5pPr marL="2057400" indent="-228600"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楷体_GB2312" panose="02010609030101010101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楷体_GB2312" panose="02010609030101010101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楷体_GB2312" panose="02010609030101010101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楷体_GB2312" panose="02010609030101010101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楷体_GB2312" panose="02010609030101010101" pitchFamily="49" charset="-122"/>
              </a:defRPr>
            </a:lvl9pPr>
          </a:lstStyle>
          <a:p>
            <a:pPr algn="ctr" eaLnBrk="1" hangingPunct="1">
              <a:defRPr/>
            </a:pPr>
            <a:endParaRPr lang="zh-CN" altLang="en-US" sz="2400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60" y="1555472"/>
            <a:ext cx="5233593" cy="4608807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1025" y="1555472"/>
            <a:ext cx="5227715" cy="4608807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5808" y="914560"/>
            <a:ext cx="1044103" cy="503008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90" y="914560"/>
            <a:ext cx="9170103" cy="503008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60" y="774136"/>
            <a:ext cx="10973880" cy="548376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6" name="Rectangle 68"/>
          <p:cNvSpPr>
            <a:spLocks noChangeArrowheads="1"/>
          </p:cNvSpPr>
          <p:nvPr userDrawn="1"/>
        </p:nvSpPr>
        <p:spPr bwMode="auto">
          <a:xfrm>
            <a:off x="0" y="647700"/>
            <a:ext cx="12192000" cy="44450"/>
          </a:xfrm>
          <a:prstGeom prst="rect">
            <a:avLst/>
          </a:prstGeom>
          <a:gradFill flip="none" rotWithShape="1">
            <a:gsLst>
              <a:gs pos="87000">
                <a:srgbClr val="0033CC"/>
              </a:gs>
              <a:gs pos="1000">
                <a:srgbClr val="C00000"/>
              </a:gs>
              <a:gs pos="0">
                <a:srgbClr val="C00000"/>
              </a:gs>
            </a:gsLst>
            <a:lin ang="0" scaled="1"/>
            <a:tileRect/>
          </a:gradFill>
          <a:ln w="9525">
            <a:noFill/>
            <a:miter lim="800000"/>
          </a:ln>
        </p:spPr>
        <p:txBody>
          <a:bodyPr wrap="none" anchor="ctr"/>
          <a:lstStyle>
            <a:lvl1pPr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楷体_GB2312" panose="02010609030101010101" pitchFamily="49" charset="-122"/>
              </a:defRPr>
            </a:lvl1pPr>
            <a:lvl2pPr marL="742950" indent="-285750"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楷体_GB2312" panose="02010609030101010101" pitchFamily="49" charset="-122"/>
              </a:defRPr>
            </a:lvl2pPr>
            <a:lvl3pPr marL="1143000" indent="-228600"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楷体_GB2312" panose="02010609030101010101" pitchFamily="49" charset="-122"/>
              </a:defRPr>
            </a:lvl3pPr>
            <a:lvl4pPr marL="1600200" indent="-228600"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楷体_GB2312" panose="02010609030101010101" pitchFamily="49" charset="-122"/>
              </a:defRPr>
            </a:lvl4pPr>
            <a:lvl5pPr marL="2057400" indent="-228600"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楷体_GB2312" panose="02010609030101010101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楷体_GB2312" panose="02010609030101010101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楷体_GB2312" panose="02010609030101010101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楷体_GB2312" panose="02010609030101010101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楷体_GB2312" panose="02010609030101010101" pitchFamily="49" charset="-122"/>
              </a:defRPr>
            </a:lvl9pPr>
          </a:lstStyle>
          <a:p>
            <a:pPr algn="ctr" eaLnBrk="1" hangingPunct="1">
              <a:defRPr/>
            </a:pPr>
            <a:endParaRPr lang="zh-CN" altLang="en-US" sz="2400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918" y="2484435"/>
            <a:ext cx="9800165" cy="1018978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918" y="3561023"/>
            <a:ext cx="9800165" cy="471683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ags" Target="../tags/tag57.xml"/><Relationship Id="rId15" Type="http://schemas.openxmlformats.org/officeDocument/2006/relationships/tags" Target="../tags/tag58.xml"/><Relationship Id="rId16" Type="http://schemas.openxmlformats.org/officeDocument/2006/relationships/tags" Target="../tags/tag59.xml"/><Relationship Id="rId17" Type="http://schemas.openxmlformats.org/officeDocument/2006/relationships/tags" Target="../tags/tag60.xml"/><Relationship Id="rId18" Type="http://schemas.openxmlformats.org/officeDocument/2006/relationships/tags" Target="../tags/tag61.xml"/><Relationship Id="rId19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0.xml"/><Relationship Id="rId8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4.xml"/><Relationship Id="rId12" Type="http://schemas.openxmlformats.org/officeDocument/2006/relationships/slideLayout" Target="../slideLayouts/slideLayout25.xml"/><Relationship Id="rId13" Type="http://schemas.openxmlformats.org/officeDocument/2006/relationships/tags" Target="../tags/tag118.xml"/><Relationship Id="rId14" Type="http://schemas.openxmlformats.org/officeDocument/2006/relationships/tags" Target="../tags/tag119.xml"/><Relationship Id="rId15" Type="http://schemas.openxmlformats.org/officeDocument/2006/relationships/tags" Target="../tags/tag120.xml"/><Relationship Id="rId16" Type="http://schemas.openxmlformats.org/officeDocument/2006/relationships/tags" Target="../tags/tag121.xml"/><Relationship Id="rId17" Type="http://schemas.openxmlformats.org/officeDocument/2006/relationships/tags" Target="../tags/tag122.xml"/><Relationship Id="rId1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4"/>
            </p:custDataLst>
          </p:nvPr>
        </p:nvSpPr>
        <p:spPr>
          <a:xfrm>
            <a:off x="608460" y="608506"/>
            <a:ext cx="10970280" cy="705723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5"/>
            </p:custDataLst>
          </p:nvPr>
        </p:nvSpPr>
        <p:spPr>
          <a:xfrm>
            <a:off x="608460" y="1490661"/>
            <a:ext cx="10970280" cy="4760033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6"/>
            </p:custDataLst>
          </p:nvPr>
        </p:nvSpPr>
        <p:spPr>
          <a:xfrm>
            <a:off x="612060" y="6315505"/>
            <a:ext cx="2700266" cy="3168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7"/>
            </p:custDataLst>
          </p:nvPr>
        </p:nvSpPr>
        <p:spPr>
          <a:xfrm>
            <a:off x="4116405" y="6315505"/>
            <a:ext cx="3960390" cy="3168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8"/>
            </p:custDataLst>
          </p:nvPr>
        </p:nvSpPr>
        <p:spPr>
          <a:xfrm>
            <a:off x="8878474" y="6315505"/>
            <a:ext cx="2700266" cy="3168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8" name="Rectangle 68"/>
          <p:cNvSpPr>
            <a:spLocks noChangeArrowheads="1"/>
          </p:cNvSpPr>
          <p:nvPr userDrawn="1"/>
        </p:nvSpPr>
        <p:spPr bwMode="auto">
          <a:xfrm>
            <a:off x="0" y="647700"/>
            <a:ext cx="12192000" cy="44450"/>
          </a:xfrm>
          <a:prstGeom prst="rect">
            <a:avLst/>
          </a:prstGeom>
          <a:gradFill flip="none" rotWithShape="1">
            <a:gsLst>
              <a:gs pos="87000">
                <a:srgbClr val="0033CC"/>
              </a:gs>
              <a:gs pos="1000">
                <a:srgbClr val="C00000"/>
              </a:gs>
              <a:gs pos="0">
                <a:srgbClr val="C00000"/>
              </a:gs>
            </a:gsLst>
            <a:lin ang="0" scaled="1"/>
            <a:tileRect/>
          </a:gradFill>
          <a:ln w="9525">
            <a:noFill/>
            <a:miter lim="800000"/>
          </a:ln>
        </p:spPr>
        <p:txBody>
          <a:bodyPr wrap="none" anchor="ctr"/>
          <a:lstStyle>
            <a:lvl1pPr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楷体_GB2312" panose="02010609030101010101" pitchFamily="49" charset="-122"/>
              </a:defRPr>
            </a:lvl1pPr>
            <a:lvl2pPr marL="742950" indent="-285750"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楷体_GB2312" panose="02010609030101010101" pitchFamily="49" charset="-122"/>
              </a:defRPr>
            </a:lvl2pPr>
            <a:lvl3pPr marL="1143000" indent="-228600"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楷体_GB2312" panose="02010609030101010101" pitchFamily="49" charset="-122"/>
              </a:defRPr>
            </a:lvl3pPr>
            <a:lvl4pPr marL="1600200" indent="-228600"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楷体_GB2312" panose="02010609030101010101" pitchFamily="49" charset="-122"/>
              </a:defRPr>
            </a:lvl4pPr>
            <a:lvl5pPr marL="2057400" indent="-228600"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楷体_GB2312" panose="02010609030101010101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楷体_GB2312" panose="02010609030101010101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楷体_GB2312" panose="02010609030101010101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楷体_GB2312" panose="02010609030101010101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楷体_GB2312" panose="02010609030101010101" pitchFamily="49" charset="-122"/>
              </a:defRPr>
            </a:lvl9pPr>
          </a:lstStyle>
          <a:p>
            <a:pPr algn="ctr" eaLnBrk="1" hangingPunct="1">
              <a:defRPr/>
            </a:pPr>
            <a:endParaRPr lang="zh-CN" altLang="en-US" sz="2400"/>
          </a:p>
        </p:txBody>
      </p:sp>
      <p:sp>
        <p:nvSpPr>
          <p:cNvPr id="9" name="灯片编号占位符 2"/>
          <p:cNvSpPr txBox="1"/>
          <p:nvPr userDrawn="1"/>
        </p:nvSpPr>
        <p:spPr bwMode="auto">
          <a:xfrm>
            <a:off x="10920537" y="56288"/>
            <a:ext cx="1271310" cy="4063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122751" tIns="61376" rIns="122751" bIns="61376" numCol="1" anchor="ctr" anchorCtr="0" compatLnSpc="1"/>
          <a:lstStyle>
            <a:defPPr>
              <a:defRPr lang="en-US"/>
            </a:defPPr>
            <a:lvl1pPr algn="r" rtl="0" eaLnBrk="1" fontAlgn="base" hangingPunct="1">
              <a:spcBef>
                <a:spcPct val="0"/>
              </a:spcBef>
              <a:spcAft>
                <a:spcPct val="0"/>
              </a:spcAft>
              <a:defRPr kumimoji="0" sz="1600" b="1" i="1" kern="1200">
                <a:solidFill>
                  <a:srgbClr val="595959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 b="1" kern="1200">
                <a:solidFill>
                  <a:schemeClr val="tx1"/>
                </a:solidFill>
                <a:latin typeface="Times New Roman" panose="02020603050405020304" pitchFamily="18" charset="0"/>
                <a:ea typeface="楷体_GB2312" panose="02010609030101010101" pitchFamily="49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 b="1" kern="1200">
                <a:solidFill>
                  <a:schemeClr val="tx1"/>
                </a:solidFill>
                <a:latin typeface="Times New Roman" panose="02020603050405020304" pitchFamily="18" charset="0"/>
                <a:ea typeface="楷体_GB2312" panose="02010609030101010101" pitchFamily="49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 b="1" kern="1200">
                <a:solidFill>
                  <a:schemeClr val="tx1"/>
                </a:solidFill>
                <a:latin typeface="Times New Roman" panose="02020603050405020304" pitchFamily="18" charset="0"/>
                <a:ea typeface="楷体_GB2312" panose="02010609030101010101" pitchFamily="49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 b="1" kern="1200">
                <a:solidFill>
                  <a:schemeClr val="tx1"/>
                </a:solidFill>
                <a:latin typeface="Times New Roman" panose="02020603050405020304" pitchFamily="18" charset="0"/>
                <a:ea typeface="楷体_GB2312" panose="02010609030101010101" pitchFamily="49" charset="-122"/>
                <a:cs typeface="+mn-cs"/>
              </a:defRPr>
            </a:lvl5pPr>
            <a:lvl6pPr marL="2286000" algn="l" defTabSz="914400" rtl="0" eaLnBrk="1" latinLnBrk="0" hangingPunct="1">
              <a:defRPr kumimoji="1" sz="2400" b="1" kern="1200">
                <a:solidFill>
                  <a:schemeClr val="tx1"/>
                </a:solidFill>
                <a:latin typeface="Times New Roman" panose="02020603050405020304" pitchFamily="18" charset="0"/>
                <a:ea typeface="楷体_GB2312" panose="02010609030101010101" pitchFamily="49" charset="-122"/>
                <a:cs typeface="+mn-cs"/>
              </a:defRPr>
            </a:lvl6pPr>
            <a:lvl7pPr marL="2743200" algn="l" defTabSz="914400" rtl="0" eaLnBrk="1" latinLnBrk="0" hangingPunct="1">
              <a:defRPr kumimoji="1" sz="2400" b="1" kern="1200">
                <a:solidFill>
                  <a:schemeClr val="tx1"/>
                </a:solidFill>
                <a:latin typeface="Times New Roman" panose="02020603050405020304" pitchFamily="18" charset="0"/>
                <a:ea typeface="楷体_GB2312" panose="02010609030101010101" pitchFamily="49" charset="-122"/>
                <a:cs typeface="+mn-cs"/>
              </a:defRPr>
            </a:lvl7pPr>
            <a:lvl8pPr marL="3200400" algn="l" defTabSz="914400" rtl="0" eaLnBrk="1" latinLnBrk="0" hangingPunct="1">
              <a:defRPr kumimoji="1" sz="2400" b="1" kern="1200">
                <a:solidFill>
                  <a:schemeClr val="tx1"/>
                </a:solidFill>
                <a:latin typeface="Times New Roman" panose="02020603050405020304" pitchFamily="18" charset="0"/>
                <a:ea typeface="楷体_GB2312" panose="02010609030101010101" pitchFamily="49" charset="-122"/>
                <a:cs typeface="+mn-cs"/>
              </a:defRPr>
            </a:lvl8pPr>
            <a:lvl9pPr marL="3657600" algn="l" defTabSz="914400" rtl="0" eaLnBrk="1" latinLnBrk="0" hangingPunct="1">
              <a:defRPr kumimoji="1" sz="2400" b="1" kern="1200">
                <a:solidFill>
                  <a:schemeClr val="tx1"/>
                </a:solidFill>
                <a:latin typeface="Times New Roman" panose="02020603050405020304" pitchFamily="18" charset="0"/>
                <a:ea typeface="楷体_GB2312" panose="02010609030101010101" pitchFamily="49" charset="-122"/>
                <a:cs typeface="+mn-cs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D1562B18-A52C-4BB1-80C2-C13A742CCD3E}" type="slidenum">
              <a:rPr kumimoji="0" lang="zh-CN" altLang="en-US" sz="1800" b="1" i="0" u="none" strike="noStrike" kern="120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+mj-lt"/>
                <a:ea typeface="宋体" panose="02010600030101010101" pitchFamily="2" charset="-122"/>
                <a:cs typeface="+mj-lt"/>
              </a:rPr>
            </a:fld>
            <a:endParaRPr kumimoji="0" lang="en-US" altLang="zh-CN" sz="1800" b="1" i="0" u="none" strike="noStrike" kern="120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+mj-lt"/>
              <a:ea typeface="宋体" panose="02010600030101010101" pitchFamily="2" charset="-122"/>
              <a:cs typeface="+mj-lt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sldNum="0"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090" algn="l"/>
          <a:tab pos="1609090" algn="l"/>
          <a:tab pos="1609090" algn="l"/>
          <a:tab pos="1609090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5235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2435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635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835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835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1035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8235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3"/>
            </p:custDataLst>
          </p:nvPr>
        </p:nvSpPr>
        <p:spPr>
          <a:xfrm>
            <a:off x="608460" y="608506"/>
            <a:ext cx="10970280" cy="705723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4"/>
            </p:custDataLst>
          </p:nvPr>
        </p:nvSpPr>
        <p:spPr>
          <a:xfrm>
            <a:off x="608460" y="1490661"/>
            <a:ext cx="10970280" cy="4760033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5"/>
            </p:custDataLst>
          </p:nvPr>
        </p:nvSpPr>
        <p:spPr>
          <a:xfrm>
            <a:off x="612060" y="6315505"/>
            <a:ext cx="2700266" cy="3168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6"/>
            </p:custDataLst>
          </p:nvPr>
        </p:nvSpPr>
        <p:spPr>
          <a:xfrm>
            <a:off x="4116405" y="6315505"/>
            <a:ext cx="3960390" cy="3168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7"/>
            </p:custDataLst>
          </p:nvPr>
        </p:nvSpPr>
        <p:spPr>
          <a:xfrm>
            <a:off x="8878474" y="6315505"/>
            <a:ext cx="2700266" cy="3168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8" name="Rectangle 68"/>
          <p:cNvSpPr>
            <a:spLocks noChangeArrowheads="1"/>
          </p:cNvSpPr>
          <p:nvPr userDrawn="1"/>
        </p:nvSpPr>
        <p:spPr bwMode="auto">
          <a:xfrm>
            <a:off x="0" y="647700"/>
            <a:ext cx="12192000" cy="44450"/>
          </a:xfrm>
          <a:prstGeom prst="rect">
            <a:avLst/>
          </a:prstGeom>
          <a:gradFill flip="none" rotWithShape="1">
            <a:gsLst>
              <a:gs pos="87000">
                <a:srgbClr val="0033CC"/>
              </a:gs>
              <a:gs pos="1000">
                <a:srgbClr val="C00000"/>
              </a:gs>
              <a:gs pos="0">
                <a:srgbClr val="C00000"/>
              </a:gs>
            </a:gsLst>
            <a:lin ang="0" scaled="1"/>
            <a:tileRect/>
          </a:gradFill>
          <a:ln w="9525">
            <a:noFill/>
            <a:miter lim="800000"/>
          </a:ln>
        </p:spPr>
        <p:txBody>
          <a:bodyPr wrap="none" anchor="ctr"/>
          <a:lstStyle>
            <a:lvl1pPr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楷体_GB2312" panose="02010609030101010101" pitchFamily="49" charset="-122"/>
              </a:defRPr>
            </a:lvl1pPr>
            <a:lvl2pPr marL="742950" indent="-285750"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楷体_GB2312" panose="02010609030101010101" pitchFamily="49" charset="-122"/>
              </a:defRPr>
            </a:lvl2pPr>
            <a:lvl3pPr marL="1143000" indent="-228600"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楷体_GB2312" panose="02010609030101010101" pitchFamily="49" charset="-122"/>
              </a:defRPr>
            </a:lvl3pPr>
            <a:lvl4pPr marL="1600200" indent="-228600"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楷体_GB2312" panose="02010609030101010101" pitchFamily="49" charset="-122"/>
              </a:defRPr>
            </a:lvl4pPr>
            <a:lvl5pPr marL="2057400" indent="-228600"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楷体_GB2312" panose="02010609030101010101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楷体_GB2312" panose="02010609030101010101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楷体_GB2312" panose="02010609030101010101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楷体_GB2312" panose="02010609030101010101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楷体_GB2312" panose="02010609030101010101" pitchFamily="49" charset="-122"/>
              </a:defRPr>
            </a:lvl9pPr>
          </a:lstStyle>
          <a:p>
            <a:pPr algn="ctr" eaLnBrk="1" hangingPunct="1">
              <a:defRPr/>
            </a:pPr>
            <a:endParaRPr lang="zh-CN" altLang="en-US" sz="240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  <p:sldLayoutId id="2147483673" r:id="rId11"/>
    <p:sldLayoutId id="2147483674" r:id="rId12"/>
  </p:sldLayoutIdLst>
  <p:hf sldNum="0"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090" algn="l"/>
          <a:tab pos="1609090" algn="l"/>
          <a:tab pos="1609090" algn="l"/>
          <a:tab pos="1609090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5235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2435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635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835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835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1035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8235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2.xml"/><Relationship Id="rId3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Relationship Id="rId8" Type="http://schemas.openxmlformats.org/officeDocument/2006/relationships/slideLayout" Target="../slideLayouts/slideLayout1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5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Relationship Id="rId14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7.xml"/><Relationship Id="rId18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8.xml"/><Relationship Id="rId30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9.xml"/><Relationship Id="rId26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10.xml"/><Relationship Id="rId2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1018520" y="0"/>
            <a:ext cx="1170432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78992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26177"/>
                </a:solidFill>
                <a:latin typeface="Noto Sans CJK SC"/>
                <a:ea typeface="Noto Sans CJK SC"/>
              </a:rPr>
              <a:t>PAPER READING  /  文献分享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735056" cy="1417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003BBE"/>
                </a:solidFill>
                <a:latin typeface="Noto Sans CJK SC"/>
                <a:ea typeface="Noto Sans CJK SC"/>
              </a:rPr>
              <a:t>C₄F₇N 的电子碰撞截面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003BBE"/>
                </a:solidFill>
                <a:latin typeface="Noto Sans CJK SC"/>
                <a:ea typeface="Noto Sans CJK SC"/>
              </a:rPr>
              <a:t>与负流注放电特性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670048"/>
            <a:ext cx="10287000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C00000"/>
                </a:solidFill>
                <a:latin typeface="Noto Sans CJK SC"/>
                <a:ea typeface="Noto Sans CJK SC"/>
              </a:rPr>
              <a:t>从微观数据构建，到环保绝缘气体的放电评价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566160"/>
            <a:ext cx="5321808" cy="1783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CBDA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3566160"/>
            <a:ext cx="50292" cy="1783080"/>
          </a:xfrm>
          <a:prstGeom prst="rect">
            <a:avLst/>
          </a:prstGeom>
          <a:solidFill>
            <a:srgbClr val="005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3675887"/>
            <a:ext cx="4992624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5BC4"/>
                </a:solidFill>
                <a:latin typeface="Noto Sans CJK SC"/>
                <a:ea typeface="Noto Sans CJK SC"/>
              </a:rPr>
              <a:t>01  截面与电子群参数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4160520"/>
            <a:ext cx="4992624" cy="110642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72B4D"/>
                </a:solidFill>
                <a:latin typeface="Noto Sans CJK SC"/>
                <a:ea typeface="Noto Sans CJK SC"/>
              </a:rPr>
              <a:t>Metting van Rijn &amp; Franck (2026)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72B4D"/>
                </a:solidFill>
                <a:latin typeface="Noto Sans CJK SC"/>
                <a:ea typeface="Noto Sans CJK SC"/>
              </a:rPr>
              <a:t>Electron scattering cross sections of the fluoronitrile C₄F₇N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72B4D"/>
                </a:solidFill>
                <a:latin typeface="Noto Sans CJK SC"/>
                <a:ea typeface="Noto Sans CJK SC"/>
              </a:rPr>
              <a:t>J. Phys. D 59, 125201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3566160"/>
            <a:ext cx="5321808" cy="1783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CBDA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344" y="3566160"/>
            <a:ext cx="50292" cy="1783080"/>
          </a:xfrm>
          <a:prstGeom prst="rect">
            <a:avLst/>
          </a:prstGeom>
          <a:solidFill>
            <a:srgbClr val="005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45936" y="3675887"/>
            <a:ext cx="4992624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5BC4"/>
                </a:solidFill>
                <a:latin typeface="Noto Sans CJK SC"/>
                <a:ea typeface="Noto Sans CJK SC"/>
              </a:rPr>
              <a:t>02  非均匀场中的负流注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5936" y="4160520"/>
            <a:ext cx="4992624" cy="110642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30" b="0">
                <a:solidFill>
                  <a:srgbClr val="172B4D"/>
                </a:solidFill>
                <a:latin typeface="Noto Sans CJK SC"/>
                <a:ea typeface="Noto Sans CJK SC"/>
              </a:rPr>
              <a:t>Simonović, Bošnjaković &amp; Dujko (2025)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30" b="0">
                <a:solidFill>
                  <a:srgbClr val="172B4D"/>
                </a:solidFill>
                <a:latin typeface="Noto Sans CJK SC"/>
                <a:ea typeface="Noto Sans CJK SC"/>
              </a:rPr>
              <a:t>Axisymmetric fluid simulations of negative streamers in SF₆ and in CO₂–C₄F₇N mixtures…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30" b="0">
                <a:solidFill>
                  <a:srgbClr val="172B4D"/>
                </a:solidFill>
                <a:latin typeface="Noto Sans CJK SC"/>
                <a:ea typeface="Noto Sans CJK SC"/>
              </a:rPr>
              <a:t>Plasma Sources Sci. Technol. 34, 125004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843016"/>
            <a:ext cx="548640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526177"/>
                </a:solidFill>
                <a:latin typeface="Noto Sans CJK SC"/>
                <a:ea typeface="Noto Sans CJK SC"/>
              </a:rPr>
              <a:t>汇报人：____________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5843016"/>
            <a:ext cx="34747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526177"/>
                </a:solidFill>
                <a:latin typeface="Noto Sans CJK SC"/>
                <a:ea typeface="Noto Sans CJK SC"/>
              </a:rPr>
              <a:t>日期：____________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510528"/>
            <a:ext cx="10607040" cy="2103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26177"/>
                </a:solidFill>
                <a:latin typeface="Noto Sans CJK SC"/>
                <a:ea typeface="Noto Sans CJK SC"/>
              </a:rPr>
              <a:t>文献[1] doi:10.1088/1361-6463/ae4fd8  ｜  文献[2] doi:10.1088/1361-6595/ae2209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1018520" y="0"/>
            <a:ext cx="1170432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29768" y="100584"/>
            <a:ext cx="10789920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01820"/>
                </a:solidFill>
                <a:latin typeface="Noto Sans CJK SC"/>
                <a:ea typeface="Noto Sans CJK SC"/>
              </a:rPr>
              <a:t>共同问题：如何把微观数据连到绝缘评价？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155448"/>
            <a:ext cx="64008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26177"/>
                </a:solidFill>
                <a:latin typeface="Noto Sans CJK SC"/>
                <a:ea typeface="Noto Sans CJK SC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32104"/>
            <a:ext cx="11247120" cy="4297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00000"/>
                </a:solidFill>
                <a:latin typeface="Noto Sans CJK SC"/>
                <a:ea typeface="Noto Sans CJK SC"/>
              </a:rPr>
              <a:t>研究主线｜碰撞过程 → 群参数 → 流注动力学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437376"/>
            <a:ext cx="11274552" cy="0"/>
          </a:xfrm>
          <a:prstGeom prst="line">
            <a:avLst/>
          </a:prstGeom>
          <a:ln w="12700">
            <a:solidFill>
              <a:srgbClr val="CBDA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75488" y="6519672"/>
            <a:ext cx="10789920" cy="2103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26177"/>
                </a:solidFill>
                <a:latin typeface="Noto Sans CJK SC"/>
                <a:ea typeface="Noto Sans CJK SC"/>
              </a:rPr>
              <a:t>[1] J. Phys. D 59 (2026) 125201；[2] Plasma Sources Sci. Technol. 34 (2025) 125004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640080" cy="2194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26177"/>
                </a:solidFill>
                <a:latin typeface="Noto Sans CJK SC"/>
                <a:ea typeface="Noto Sans CJK SC"/>
              </a:rPr>
              <a:t>2 / 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545336"/>
            <a:ext cx="3447288" cy="1527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CBDA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545336"/>
            <a:ext cx="50292" cy="1527048"/>
          </a:xfrm>
          <a:prstGeom prst="rect">
            <a:avLst/>
          </a:prstGeom>
          <a:solidFill>
            <a:srgbClr val="005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655064"/>
            <a:ext cx="3118104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5BC4"/>
                </a:solidFill>
                <a:latin typeface="Noto Sans CJK SC"/>
                <a:ea typeface="Noto Sans CJK SC"/>
              </a:rPr>
              <a:t>碰撞截面 σⱼ(ε)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139696"/>
            <a:ext cx="3118104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B4D"/>
                </a:solidFill>
                <a:latin typeface="Noto Sans CJK SC"/>
                <a:ea typeface="Noto Sans CJK SC"/>
              </a:rPr>
              <a:t>能量阈值、幅值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B4D"/>
                </a:solidFill>
                <a:latin typeface="Noto Sans CJK SC"/>
                <a:ea typeface="Noto Sans CJK SC"/>
              </a:rPr>
              <a:t>弹性 / 激发 / 电离 / 附着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41648" y="1993392"/>
            <a:ext cx="34747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05BC4"/>
                </a:solidFill>
                <a:latin typeface="Noto Sans CJK SC"/>
                <a:ea typeface="Noto Sans CJK SC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0831" y="1545336"/>
            <a:ext cx="3447288" cy="1527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CBDA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70831" y="1545336"/>
            <a:ext cx="50292" cy="1527048"/>
          </a:xfrm>
          <a:prstGeom prst="rect">
            <a:avLst/>
          </a:prstGeom>
          <a:solidFill>
            <a:srgbClr val="005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35423" y="1655064"/>
            <a:ext cx="3118104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5BC4"/>
                </a:solidFill>
                <a:latin typeface="Noto Sans CJK SC"/>
                <a:ea typeface="Noto Sans CJK SC"/>
              </a:rPr>
              <a:t>电子群参数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5423" y="2139696"/>
            <a:ext cx="3118104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B4D"/>
                </a:solidFill>
                <a:latin typeface="Noto Sans CJK SC"/>
                <a:ea typeface="Noto Sans CJK SC"/>
              </a:rPr>
              <a:t>漂移、扩散与反应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B4D"/>
                </a:solidFill>
                <a:latin typeface="Noto Sans CJK SC"/>
                <a:ea typeface="Noto Sans CJK SC"/>
              </a:rPr>
              <a:t>受 E/N 和混合比例控制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1993392"/>
            <a:ext cx="34747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05BC4"/>
                </a:solidFill>
                <a:latin typeface="Noto Sans CJK SC"/>
                <a:ea typeface="Noto Sans CJK S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93023" y="1545336"/>
            <a:ext cx="3447288" cy="1527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CBDA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93023" y="1545336"/>
            <a:ext cx="50292" cy="1527048"/>
          </a:xfrm>
          <a:prstGeom prst="rect">
            <a:avLst/>
          </a:prstGeom>
          <a:solidFill>
            <a:srgbClr val="005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57615" y="1655064"/>
            <a:ext cx="3118104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5BC4"/>
                </a:solidFill>
                <a:latin typeface="Noto Sans CJK SC"/>
                <a:ea typeface="Noto Sans CJK SC"/>
              </a:rPr>
              <a:t>负流注放电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7615" y="2139696"/>
            <a:ext cx="3118104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B4D"/>
                </a:solidFill>
                <a:latin typeface="Noto Sans CJK SC"/>
                <a:ea typeface="Noto Sans CJK SC"/>
              </a:rPr>
              <a:t>空间电荷、电场增强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B4D"/>
                </a:solidFill>
                <a:latin typeface="Noto Sans CJK SC"/>
                <a:ea typeface="Noto Sans CJK SC"/>
              </a:rPr>
              <a:t>传播、重复流注与熄灭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557784" y="3392424"/>
          <a:ext cx="1106424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389120"/>
                <a:gridCol w="4846320"/>
              </a:tblGrid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关键量</a:t>
                      </a:r>
                    </a:p>
                  </a:txBody>
                  <a:tcPr marL="91440" marR="91440" marT="59436" marB="59436" anchor="ctr">
                    <a:solidFill>
                      <a:srgbClr val="005B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物理含义</a:t>
                      </a:r>
                    </a:p>
                  </a:txBody>
                  <a:tcPr marL="91440" marR="91440" marT="59436" marB="59436" anchor="ctr">
                    <a:solidFill>
                      <a:srgbClr val="005B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使用时需要区分</a:t>
                      </a:r>
                    </a:p>
                  </a:txBody>
                  <a:tcPr marL="91440" marR="91440" marT="59436" marB="59436" anchor="ctr">
                    <a:solidFill>
                      <a:srgbClr val="005BC4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</a:rPr>
                        <a:t>E/N；1 Td = 10⁻²¹ V·m²</a:t>
                      </a:r>
                    </a:p>
                  </a:txBody>
                  <a:tcPr marL="91440" marR="91440" marT="59436" marB="59436" anchor="ctr">
                    <a:solidFill>
                      <a:srgbClr val="EDF4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</a:rPr>
                        <a:t>约化电场；N 为气体数密度</a:t>
                      </a:r>
                    </a:p>
                  </a:txBody>
                  <a:tcPr marL="91440" marR="91440" marT="59436" marB="59436" anchor="ctr">
                    <a:solidFill>
                      <a:srgbClr val="EDF4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</a:rPr>
                        <a:t>同一 E/N ≠ 同一设备放电条件</a:t>
                      </a:r>
                    </a:p>
                  </a:txBody>
                  <a:tcPr marL="91440" marR="91440" marT="59436" marB="59436" anchor="ctr">
                    <a:solidFill>
                      <a:srgbClr val="EDF4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</a:rPr>
                        <a:t>Wᵦ；k_eff</a:t>
                      </a:r>
                    </a:p>
                  </a:txBody>
                  <a:tcPr marL="91440" marR="91440" marT="59436" marB="5943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</a:rPr>
                        <a:t>体漂移速度；(νᵢ − νₐ)/N</a:t>
                      </a:r>
                    </a:p>
                  </a:txBody>
                  <a:tcPr marL="91440" marR="91440" marT="59436" marB="5943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</a:rPr>
                        <a:t>体参数/通量参数；k_eff 单位 m³/s</a:t>
                      </a:r>
                    </a:p>
                  </a:txBody>
                  <a:tcPr marL="91440" marR="91440" marT="59436" marB="59436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</a:rPr>
                        <a:t>α − η</a:t>
                      </a:r>
                    </a:p>
                  </a:txBody>
                  <a:tcPr marL="91440" marR="91440" marT="59436" marB="59436" anchor="ctr">
                    <a:solidFill>
                      <a:srgbClr val="EDF4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</a:rPr>
                        <a:t>Townsend 有效电离系数，单位 m⁻¹</a:t>
                      </a:r>
                    </a:p>
                  </a:txBody>
                  <a:tcPr marL="91440" marR="91440" marT="59436" marB="59436" anchor="ctr">
                    <a:solidFill>
                      <a:srgbClr val="EDF4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</a:rPr>
                        <a:t>均匀场净增长平衡 ≠ 流注跨隙阈值</a:t>
                      </a:r>
                    </a:p>
                  </a:txBody>
                  <a:tcPr marL="91440" marR="91440" marT="59436" marB="59436" anchor="ctr">
                    <a:solidFill>
                      <a:srgbClr val="EDF4FF"/>
                    </a:solidFill>
                  </a:tcPr>
                </a:tc>
              </a:tr>
            </a:tbl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475488" y="5907024"/>
            <a:ext cx="11228832" cy="411480"/>
          </a:xfrm>
          <a:prstGeom prst="roundRect">
            <a:avLst>
              <a:gd name="adj" fmla="val 12000"/>
            </a:avLst>
          </a:prstGeom>
          <a:solidFill>
            <a:srgbClr val="ED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" y="5998464"/>
            <a:ext cx="10844784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00000"/>
                </a:solidFill>
                <a:latin typeface="Noto Sans CJK SC"/>
                <a:ea typeface="Noto Sans CJK SC"/>
              </a:rPr>
              <a:t>两篇构成研究链条；2025 年流注工作并未使用 2026 年的新截面集。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1018520" y="0"/>
            <a:ext cx="1170432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29768" y="100584"/>
            <a:ext cx="10789920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01820"/>
                </a:solidFill>
                <a:latin typeface="Noto Sans CJK SC"/>
                <a:ea typeface="Noto Sans CJK SC"/>
              </a:rPr>
              <a:t>文献一｜用多源证据构建完整截面集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155448"/>
            <a:ext cx="64008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26177"/>
                </a:solidFill>
                <a:latin typeface="Noto Sans CJK SC"/>
                <a:ea typeface="Noto Sans CJK SC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32104"/>
            <a:ext cx="11247120" cy="4297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00000"/>
                </a:solidFill>
                <a:latin typeface="Noto Sans CJK SC"/>
                <a:ea typeface="Noto Sans CJK SC"/>
              </a:rPr>
              <a:t>核心方法｜先用物理约束确定形状，再用群参数修正幅值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437376"/>
            <a:ext cx="11274552" cy="0"/>
          </a:xfrm>
          <a:prstGeom prst="line">
            <a:avLst/>
          </a:prstGeom>
          <a:ln w="12700">
            <a:solidFill>
              <a:srgbClr val="CBDA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75488" y="6519672"/>
            <a:ext cx="10789920" cy="2103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26177"/>
                </a:solidFill>
                <a:latin typeface="Noto Sans CJK SC"/>
                <a:ea typeface="Noto Sans CJK SC"/>
              </a:rPr>
              <a:t>[1] Metting van Rijn &amp; Franck, J. Phys. D 59 (2026) 125201｜doi:10.1088/1361-6463/ae4fd8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640080" cy="2194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26177"/>
                </a:solidFill>
                <a:latin typeface="Noto Sans CJK SC"/>
                <a:ea typeface="Noto Sans CJK SC"/>
              </a:rPr>
              <a:t>3 / 10</a:t>
            </a:r>
          </a:p>
        </p:txBody>
      </p:sp>
      <p:pic>
        <p:nvPicPr>
          <p:cNvPr id="9" name="Picture 8" descr="a_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586184"/>
            <a:ext cx="5257800" cy="389594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5577840"/>
            <a:ext cx="484632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26177"/>
                </a:solidFill>
                <a:latin typeface="Noto Sans CJK SC"/>
                <a:ea typeface="Noto Sans CJK SC"/>
              </a:rPr>
              <a:t>原文图2｜按碰撞类型求和；非单一分通道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989320" y="1527048"/>
          <a:ext cx="5586983" cy="4005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3271"/>
                <a:gridCol w="2221992"/>
                <a:gridCol w="2331720"/>
              </a:tblGrid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639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过程</a:t>
                      </a:r>
                    </a:p>
                  </a:txBody>
                  <a:tcPr marL="91440" marR="91440" marT="59436" marB="59436" anchor="ctr">
                    <a:solidFill>
                      <a:srgbClr val="005B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639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主要依据</a:t>
                      </a:r>
                    </a:p>
                  </a:txBody>
                  <a:tcPr marL="91440" marR="91440" marT="59436" marB="59436" anchor="ctr">
                    <a:solidFill>
                      <a:srgbClr val="005B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639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关键处理</a:t>
                      </a:r>
                    </a:p>
                  </a:txBody>
                  <a:tcPr marL="91440" marR="91440" marT="59436" marB="59436" anchor="ctr">
                    <a:solidFill>
                      <a:srgbClr val="005BC4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639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</a:rPr>
                        <a:t>弹性</a:t>
                      </a:r>
                    </a:p>
                  </a:txBody>
                  <a:tcPr marL="91440" marR="91440" marT="59436" marB="59436" anchor="ctr">
                    <a:solidFill>
                      <a:srgbClr val="EDF4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639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</a:rPr>
                        <a:t>偶极散射 + 计算</a:t>
                      </a:r>
                    </a:p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639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</a:rPr>
                        <a:t>+ 群实验</a:t>
                      </a:r>
                    </a:p>
                  </a:txBody>
                  <a:tcPr marL="91440" marR="91440" marT="59436" marB="59436" anchor="ctr">
                    <a:solidFill>
                      <a:srgbClr val="EDF4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639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</a:rPr>
                        <a:t>&lt;100 eV 假设</a:t>
                      </a:r>
                    </a:p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639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</a:rPr>
                        <a:t>σ_el ≈ σ_mt</a:t>
                      </a:r>
                    </a:p>
                  </a:txBody>
                  <a:tcPr marL="91440" marR="91440" marT="59436" marB="59436" anchor="ctr">
                    <a:solidFill>
                      <a:srgbClr val="EDF4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639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</a:rPr>
                        <a:t>振动</a:t>
                      </a:r>
                    </a:p>
                  </a:txBody>
                  <a:tcPr marL="91440" marR="91440" marT="59436" marB="5943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639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</a:rPr>
                        <a:t>电子能损谱</a:t>
                      </a:r>
                    </a:p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639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</a:rPr>
                        <a:t>Born–dipole</a:t>
                      </a:r>
                    </a:p>
                  </a:txBody>
                  <a:tcPr marL="91440" marR="91440" marT="59436" marB="5943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639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</a:rPr>
                        <a:t>6组阈值：</a:t>
                      </a:r>
                    </a:p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639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</a:rPr>
                        <a:t>65–443 meV</a:t>
                      </a:r>
                    </a:p>
                  </a:txBody>
                  <a:tcPr marL="91440" marR="91440" marT="59436" marB="59436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639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</a:rPr>
                        <a:t>附着</a:t>
                      </a:r>
                    </a:p>
                  </a:txBody>
                  <a:tcPr marL="91440" marR="91440" marT="59436" marB="59436" anchor="ctr">
                    <a:solidFill>
                      <a:srgbClr val="EDF4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639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</a:rPr>
                        <a:t>低能离子信号</a:t>
                      </a:r>
                    </a:p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639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</a:rPr>
                        <a:t>+ 群参数</a:t>
                      </a:r>
                    </a:p>
                  </a:txBody>
                  <a:tcPr marL="91440" marR="91440" marT="59436" marB="59436" anchor="ctr">
                    <a:solidFill>
                      <a:srgbClr val="EDF4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639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</a:rPr>
                        <a:t>谱形与幅值</a:t>
                      </a:r>
                    </a:p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639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</a:rPr>
                        <a:t>分别施加约束</a:t>
                      </a:r>
                    </a:p>
                  </a:txBody>
                  <a:tcPr marL="91440" marR="91440" marT="59436" marB="59436" anchor="ctr">
                    <a:solidFill>
                      <a:srgbClr val="EDF4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639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</a:rPr>
                        <a:t>电子激发</a:t>
                      </a:r>
                    </a:p>
                  </a:txBody>
                  <a:tcPr marL="91440" marR="91440" marT="59436" marB="5943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639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</a:rPr>
                        <a:t>光学振子强度</a:t>
                      </a:r>
                    </a:p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639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</a:rPr>
                        <a:t>+ BEf 标度</a:t>
                      </a:r>
                    </a:p>
                  </a:txBody>
                  <a:tcPr marL="91440" marR="91440" marT="59436" marB="5943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639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</a:rPr>
                        <a:t>补足高能损失</a:t>
                      </a:r>
                    </a:p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639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</a:rPr>
                        <a:t>约束 W 值</a:t>
                      </a:r>
                    </a:p>
                  </a:txBody>
                  <a:tcPr marL="91440" marR="91440" marT="59436" marB="59436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639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</a:rPr>
                        <a:t>电离</a:t>
                      </a:r>
                    </a:p>
                  </a:txBody>
                  <a:tcPr marL="91440" marR="91440" marT="59436" marB="59436" anchor="ctr">
                    <a:solidFill>
                      <a:srgbClr val="EDF4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639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</a:rPr>
                        <a:t>C₂F₆ 缩放</a:t>
                      </a:r>
                    </a:p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639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</a:rPr>
                        <a:t>+ 散射实验</a:t>
                      </a:r>
                    </a:p>
                  </a:txBody>
                  <a:tcPr marL="91440" marR="91440" marT="59436" marB="59436" anchor="ctr">
                    <a:solidFill>
                      <a:srgbClr val="EDF4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639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</a:rPr>
                        <a:t>阈值12.7 eV</a:t>
                      </a:r>
                    </a:p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639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</a:rPr>
                        <a:t>含多重/K壳电离</a:t>
                      </a:r>
                    </a:p>
                  </a:txBody>
                  <a:tcPr marL="91440" marR="91440" marT="59436" marB="59436" anchor="ctr">
                    <a:solidFill>
                      <a:srgbClr val="EDF4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475488" y="5961888"/>
            <a:ext cx="11228832" cy="365760"/>
          </a:xfrm>
          <a:prstGeom prst="roundRect">
            <a:avLst>
              <a:gd name="adj" fmla="val 12000"/>
            </a:avLst>
          </a:prstGeom>
          <a:solidFill>
            <a:srgbClr val="ED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6053327"/>
            <a:ext cx="10844784" cy="2286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5BC4"/>
                </a:solidFill>
                <a:latin typeface="Noto Sans CJK SC"/>
                <a:ea typeface="Noto Sans CJK SC"/>
              </a:rPr>
              <a:t>可迁移的方法：谱学 / 散射 / 理论约束 + 多条件群参数一致性检验。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1018520" y="0"/>
            <a:ext cx="1170432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29768" y="100584"/>
            <a:ext cx="10789920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01820"/>
                </a:solidFill>
                <a:latin typeface="Noto Sans CJK SC"/>
                <a:ea typeface="Noto Sans CJK SC"/>
              </a:rPr>
              <a:t>文献一｜群参数符合良好，但要分清证据强度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155448"/>
            <a:ext cx="64008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26177"/>
                </a:solidFill>
                <a:latin typeface="Noto Sans CJK SC"/>
                <a:ea typeface="Noto Sans CJK SC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32104"/>
            <a:ext cx="11247120" cy="4297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00000"/>
                </a:solidFill>
                <a:latin typeface="Noto Sans CJK SC"/>
                <a:ea typeface="Noto Sans CJK SC"/>
              </a:rPr>
              <a:t>主要结果｜MAGBOLTZ 与 PT 数据比较；高能部分加入物理约束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437376"/>
            <a:ext cx="11274552" cy="0"/>
          </a:xfrm>
          <a:prstGeom prst="line">
            <a:avLst/>
          </a:prstGeom>
          <a:ln w="12700">
            <a:solidFill>
              <a:srgbClr val="CBDA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75488" y="6519672"/>
            <a:ext cx="10789920" cy="2103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26177"/>
                </a:solidFill>
                <a:latin typeface="Noto Sans CJK SC"/>
                <a:ea typeface="Noto Sans CJK SC"/>
              </a:rPr>
              <a:t>[1] Metting van Rijn &amp; Franck, J. Phys. D 59 (2026) 125201｜doi:10.1088/1361-6463/ae4fd8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640080" cy="2194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26177"/>
                </a:solidFill>
                <a:latin typeface="Noto Sans CJK SC"/>
                <a:ea typeface="Noto Sans CJK SC"/>
              </a:rPr>
              <a:t>4 /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1408176"/>
            <a:ext cx="356616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5BC4"/>
                </a:solidFill>
                <a:latin typeface="Noto Sans CJK SC"/>
                <a:ea typeface="Noto Sans CJK SC"/>
              </a:rPr>
              <a:t>纯气体体漂移速度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16552" y="1408176"/>
            <a:ext cx="342900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5BC4"/>
                </a:solidFill>
                <a:latin typeface="Noto Sans CJK SC"/>
                <a:ea typeface="Noto Sans CJK SC"/>
              </a:rPr>
              <a:t>纯气体有效电离速率</a:t>
            </a:r>
          </a:p>
        </p:txBody>
      </p:sp>
      <p:pic>
        <p:nvPicPr>
          <p:cNvPr id="11" name="Picture 10" descr="a_fi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49532"/>
            <a:ext cx="3694176" cy="2968079"/>
          </a:xfrm>
          <a:prstGeom prst="rect">
            <a:avLst/>
          </a:prstGeom>
        </p:spPr>
      </p:pic>
      <p:pic>
        <p:nvPicPr>
          <p:cNvPr id="12" name="Picture 11" descr="a_fig4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43400" y="1912849"/>
            <a:ext cx="3657599" cy="304144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5800" y="5047488"/>
            <a:ext cx="722376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26177"/>
                </a:solidFill>
                <a:latin typeface="Noto Sans CJK SC"/>
                <a:ea typeface="Noto Sans CJK SC"/>
              </a:rPr>
              <a:t>原文图3–4｜点：实验；线：所建截面集的计算结果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57031" y="1508760"/>
            <a:ext cx="3447288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CBDA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57031" y="1508760"/>
            <a:ext cx="50292" cy="1417320"/>
          </a:xfrm>
          <a:prstGeom prst="rect">
            <a:avLst/>
          </a:prstGeom>
          <a:solidFill>
            <a:srgbClr val="005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21624" y="1618488"/>
            <a:ext cx="3118104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5BC4"/>
                </a:solidFill>
                <a:latin typeface="Noto Sans CJK SC"/>
                <a:ea typeface="Noto Sans CJK SC"/>
              </a:rPr>
              <a:t>975 ± 15 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21624" y="2103120"/>
            <a:ext cx="3118104" cy="74066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72B4D"/>
                </a:solidFill>
                <a:latin typeface="Noto Sans CJK SC"/>
                <a:ea typeface="Noto Sans CJK SC"/>
              </a:rPr>
              <a:t>纯 C₄F₇N 实验临界场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72B4D"/>
                </a:solidFill>
                <a:latin typeface="Noto Sans CJK SC"/>
                <a:ea typeface="Noto Sans CJK SC"/>
              </a:rPr>
              <a:t>计算可复现零交点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57031" y="3108960"/>
            <a:ext cx="3447288" cy="19568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CBDA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57031" y="3108960"/>
            <a:ext cx="50292" cy="195681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21624" y="3218688"/>
            <a:ext cx="3118104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00000"/>
                </a:solidFill>
                <a:latin typeface="Noto Sans CJK SC"/>
                <a:ea typeface="Noto Sans CJK SC"/>
              </a:rPr>
              <a:t>31 eV / 离子对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21624" y="3703320"/>
            <a:ext cx="3118104" cy="12801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72B4D"/>
                </a:solidFill>
                <a:latin typeface="Noto Sans CJK SC"/>
                <a:ea typeface="Noto Sans CJK SC"/>
              </a:rPr>
              <a:t>W 值为设定的约束目标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72B4D"/>
                </a:solidFill>
                <a:latin typeface="Noto Sans CJK SC"/>
                <a:ea typeface="Noto Sans CJK SC"/>
              </a:rPr>
              <a:t>高能激发经调整后满足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72B4D"/>
                </a:solidFill>
                <a:latin typeface="Noto Sans CJK SC"/>
                <a:ea typeface="Noto Sans CJK SC"/>
              </a:rPr>
              <a:t>不是独立实验测量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5477256"/>
            <a:ext cx="11228832" cy="594360"/>
          </a:xfrm>
          <a:prstGeom prst="roundRect">
            <a:avLst>
              <a:gd name="adj" fmla="val 12000"/>
            </a:avLst>
          </a:prstGeom>
          <a:solidFill>
            <a:srgbClr val="ED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2" y="5568696"/>
            <a:ext cx="10844784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00000"/>
                </a:solidFill>
                <a:latin typeface="Noto Sans CJK SC"/>
                <a:ea typeface="Noto Sans CJK SC"/>
              </a:rPr>
              <a:t>读图提醒：图3的 2% 误差条由作者为展示符合程度而设定，并非完整精度声明。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" y="6153912"/>
            <a:ext cx="10881360" cy="2194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26177"/>
                </a:solidFill>
                <a:latin typeface="Noto Sans CJK SC"/>
                <a:ea typeface="Noto Sans CJK SC"/>
              </a:rPr>
              <a:t>群参数也是构建时使用的约束；“一致性良好”不等于所有分通道已被独立验证。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1018520" y="0"/>
            <a:ext cx="1170432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29768" y="100584"/>
            <a:ext cx="10789920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01820"/>
                </a:solidFill>
                <a:latin typeface="Noto Sans CJK SC"/>
                <a:ea typeface="Noto Sans CJK SC"/>
              </a:rPr>
              <a:t>文献一｜低能数据与参数可辨识性仍是瓶颈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155448"/>
            <a:ext cx="64008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26177"/>
                </a:solidFill>
                <a:latin typeface="Noto Sans CJK SC"/>
                <a:ea typeface="Noto Sans CJK SC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32104"/>
            <a:ext cx="11247120" cy="4297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00000"/>
                </a:solidFill>
                <a:latin typeface="Noto Sans CJK SC"/>
                <a:ea typeface="Noto Sans CJK SC"/>
              </a:rPr>
              <a:t>关键讨论｜群参数吻合，不自动保证各分通道截面唯一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437376"/>
            <a:ext cx="11274552" cy="0"/>
          </a:xfrm>
          <a:prstGeom prst="line">
            <a:avLst/>
          </a:prstGeom>
          <a:ln w="12700">
            <a:solidFill>
              <a:srgbClr val="CBDA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75488" y="6519672"/>
            <a:ext cx="10789920" cy="2103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26177"/>
                </a:solidFill>
                <a:latin typeface="Noto Sans CJK SC"/>
                <a:ea typeface="Noto Sans CJK SC"/>
              </a:rPr>
              <a:t>[1] Metting van Rijn &amp; Franck, J. Phys. D 59 (2026) 125201｜doi:10.1088/1361-6463/ae4fd8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640080" cy="2194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26177"/>
                </a:solidFill>
                <a:latin typeface="Noto Sans CJK SC"/>
                <a:ea typeface="Noto Sans CJK SC"/>
              </a:rPr>
              <a:t>5 / 10</a:t>
            </a:r>
          </a:p>
        </p:txBody>
      </p:sp>
      <p:pic>
        <p:nvPicPr>
          <p:cNvPr id="9" name="Picture 8" descr="a_fig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231" y="1499616"/>
            <a:ext cx="4607112" cy="367588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4088" y="5248656"/>
            <a:ext cx="4526280" cy="46634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26177"/>
                </a:solidFill>
                <a:latin typeface="Noto Sans CJK SC"/>
                <a:ea typeface="Noto Sans CJK SC"/>
              </a:rPr>
              <a:t>原文图8｜N₂ 稀释混合气的有效电离速率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26177"/>
                </a:solidFill>
                <a:latin typeface="Noto Sans CJK SC"/>
                <a:ea typeface="Noto Sans CJK SC"/>
              </a:rPr>
              <a:t>低浓度时，场强依赖仍有差异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13832" y="1527048"/>
            <a:ext cx="6144768" cy="11064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CBDA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513832" y="1527048"/>
            <a:ext cx="50292" cy="1106424"/>
          </a:xfrm>
          <a:prstGeom prst="rect">
            <a:avLst/>
          </a:prstGeom>
          <a:solidFill>
            <a:srgbClr val="005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78424" y="1636776"/>
            <a:ext cx="5815583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5BC4"/>
                </a:solidFill>
                <a:latin typeface="Noto Sans CJK SC"/>
                <a:ea typeface="Noto Sans CJK SC"/>
              </a:rPr>
              <a:t>01  低能约束稀少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78424" y="2121408"/>
            <a:ext cx="5815583" cy="4297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B4D"/>
                </a:solidFill>
                <a:latin typeface="Noto Sans CJK SC"/>
                <a:ea typeface="Noto Sans CJK SC"/>
              </a:rPr>
              <a:t>&lt;10 eV 的输运数据不足，强附着限制低场测量。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13832" y="2770632"/>
            <a:ext cx="6144768" cy="117957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CBDA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513832" y="2770632"/>
            <a:ext cx="50292" cy="1179576"/>
          </a:xfrm>
          <a:prstGeom prst="rect">
            <a:avLst/>
          </a:prstGeom>
          <a:solidFill>
            <a:srgbClr val="005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78424" y="2880360"/>
            <a:ext cx="5815583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5BC4"/>
                </a:solidFill>
                <a:latin typeface="Noto Sans CJK SC"/>
                <a:ea typeface="Noto Sans CJK SC"/>
              </a:rPr>
              <a:t>02  附着通道存在补偿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78424" y="3364991"/>
            <a:ext cx="5815583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B4D"/>
                </a:solidFill>
                <a:latin typeface="Noto Sans CJK SC"/>
                <a:ea typeface="Noto Sans CJK SC"/>
              </a:rPr>
              <a:t>&lt;2 eV 与约7.6 eV通道的相对幅值难由纯气体唯一确定。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13832" y="4087368"/>
            <a:ext cx="6144768" cy="1234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CBDA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513832" y="4087368"/>
            <a:ext cx="50292" cy="1234440"/>
          </a:xfrm>
          <a:prstGeom prst="rect">
            <a:avLst/>
          </a:prstGeom>
          <a:solidFill>
            <a:srgbClr val="005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78424" y="4197096"/>
            <a:ext cx="5815583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5BC4"/>
                </a:solidFill>
                <a:latin typeface="Noto Sans CJK SC"/>
                <a:ea typeface="Noto Sans CJK SC"/>
              </a:rPr>
              <a:t>03  混合气提供额外约束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78424" y="4681728"/>
            <a:ext cx="5815583" cy="55778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B4D"/>
                </a:solidFill>
                <a:latin typeface="Noto Sans CJK SC"/>
                <a:ea typeface="Noto Sans CJK SC"/>
              </a:rPr>
              <a:t>不同稀释气、浓度和观测量，可提高通道区分能力。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715000"/>
            <a:ext cx="11228832" cy="557784"/>
          </a:xfrm>
          <a:prstGeom prst="roundRect">
            <a:avLst>
              <a:gd name="adj" fmla="val 12000"/>
            </a:avLst>
          </a:prstGeom>
          <a:solidFill>
            <a:srgbClr val="ED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5806440"/>
            <a:ext cx="10844784" cy="420623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5BC4"/>
                </a:solidFill>
                <a:latin typeface="Noto Sans CJK SC"/>
                <a:ea typeface="Noto Sans CJK SC"/>
              </a:rPr>
              <a:t>研究启发：优先补充低能绝对散射 / 附着数据，开展多配比、多参数联合约束。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1018520" y="0"/>
            <a:ext cx="1170432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29768" y="100584"/>
            <a:ext cx="10789920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01820"/>
                </a:solidFill>
                <a:latin typeface="Noto Sans CJK SC"/>
                <a:ea typeface="Noto Sans CJK SC"/>
              </a:rPr>
              <a:t>文献二｜从局部输运系数到针板负流注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155448"/>
            <a:ext cx="64008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26177"/>
                </a:solidFill>
                <a:latin typeface="Noto Sans CJK SC"/>
                <a:ea typeface="Noto Sans CJK SC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32104"/>
            <a:ext cx="11247120" cy="4297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00000"/>
                </a:solidFill>
                <a:latin typeface="Noto Sans CJK SC"/>
                <a:ea typeface="Noto Sans CJK SC"/>
              </a:rPr>
              <a:t>模型与工况｜轴对称一阶流体模型 + AMReX 嵌入边界 + 自适应网格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437376"/>
            <a:ext cx="11274552" cy="0"/>
          </a:xfrm>
          <a:prstGeom prst="line">
            <a:avLst/>
          </a:prstGeom>
          <a:ln w="12700">
            <a:solidFill>
              <a:srgbClr val="CBDA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75488" y="6519672"/>
            <a:ext cx="10789920" cy="2103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26177"/>
                </a:solidFill>
                <a:latin typeface="Noto Sans CJK SC"/>
                <a:ea typeface="Noto Sans CJK SC"/>
              </a:rPr>
              <a:t>[2] Simonović et al., Plasma Sources Sci. Technol. 34 (2025) 125004｜doi:10.1088/1361-6595/ae2209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640080" cy="2194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26177"/>
                </a:solidFill>
                <a:latin typeface="Noto Sans CJK SC"/>
                <a:ea typeface="Noto Sans CJK SC"/>
              </a:rPr>
              <a:t>6 / 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499616"/>
            <a:ext cx="6611112" cy="1033271"/>
          </a:xfrm>
          <a:prstGeom prst="roundRect">
            <a:avLst>
              <a:gd name="adj" fmla="val 12000"/>
            </a:avLst>
          </a:prstGeom>
          <a:solidFill>
            <a:srgbClr val="ED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1627632"/>
            <a:ext cx="6281928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5BC4"/>
                </a:solidFill>
                <a:latin typeface="Noto Sans CJK SC"/>
                <a:ea typeface="Noto Sans CJK SC"/>
              </a:rPr>
              <a:t>电子：漂移–扩散–反应；电场：泊松方程自洽求解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2048256"/>
            <a:ext cx="6281928" cy="32918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72B4D"/>
                </a:solidFill>
                <a:latin typeface="Noto Sans CJK SC"/>
                <a:ea typeface="Noto Sans CJK SC"/>
              </a:rPr>
              <a:t>∂ₜnₑ + ∇·Γₑ = (α − η) μₑ |E| nₑ − kₑₚnₑnₚ + Sₚₕ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2770632"/>
          <a:ext cx="6611112" cy="2999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5129784"/>
              </a:tblGrid>
              <a:tr h="411480">
                <a:tc>
                  <a:txBody>
                    <a:bodyPr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67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项目</a:t>
                      </a:r>
                    </a:p>
                  </a:txBody>
                  <a:tcPr marL="91440" marR="91440" marT="59436" marB="59436" anchor="ctr">
                    <a:solidFill>
                      <a:srgbClr val="005B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67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负流注比较工况</a:t>
                      </a:r>
                    </a:p>
                  </a:txBody>
                  <a:tcPr marL="91440" marR="91440" marT="59436" marB="59436" anchor="ctr">
                    <a:solidFill>
                      <a:srgbClr val="005BC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67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</a:rPr>
                        <a:t>气体</a:t>
                      </a:r>
                    </a:p>
                  </a:txBody>
                  <a:tcPr marL="91440" marR="91440" marT="59436" marB="59436" anchor="ctr">
                    <a:solidFill>
                      <a:srgbClr val="EDF4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67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</a:rPr>
                        <a:t>SF₆；CO₂/C₄F₇N = 90/10、85/15、80/20</a:t>
                      </a:r>
                    </a:p>
                  </a:txBody>
                  <a:tcPr marL="91440" marR="91440" marT="59436" marB="59436" anchor="ctr">
                    <a:solidFill>
                      <a:srgbClr val="EDF4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67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</a:rPr>
                        <a:t>电极 / 域</a:t>
                      </a:r>
                    </a:p>
                  </a:txBody>
                  <a:tcPr marL="91440" marR="91440" marT="59436" marB="5943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67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</a:rPr>
                        <a:t>针半径1 mm、长3.4 mm；域16×16 mm</a:t>
                      </a:r>
                    </a:p>
                  </a:txBody>
                  <a:tcPr marL="91440" marR="91440" marT="59436" marB="59436" anchor="ctr">
                    <a:solidFill>
                      <a:srgbClr val="FFFFFF"/>
                    </a:solidFill>
                  </a:tcPr>
                </a:tc>
              </a:tr>
              <a:tr h="758952">
                <a:tc>
                  <a:txBody>
                    <a:bodyPr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67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</a:rPr>
                        <a:t>背景场</a:t>
                      </a:r>
                    </a:p>
                  </a:txBody>
                  <a:tcPr marL="91440" marR="91440" marT="59436" marB="59436" anchor="ctr">
                    <a:solidFill>
                      <a:srgbClr val="EDF4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67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</a:rPr>
                        <a:t>324.9 / 288.8 / 252.7 Td</a:t>
                      </a:r>
                    </a:p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67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</a:rPr>
                        <a:t>= 90% / 80% / 70% 的 SF₆ 临界场</a:t>
                      </a:r>
                    </a:p>
                  </a:txBody>
                  <a:tcPr marL="91440" marR="91440" marT="59436" marB="59436" anchor="ctr">
                    <a:solidFill>
                      <a:srgbClr val="EDF4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67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</a:rPr>
                        <a:t>初始 / 源项</a:t>
                      </a:r>
                    </a:p>
                  </a:txBody>
                  <a:tcPr marL="91440" marR="91440" marT="59436" marB="5943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67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</a:rPr>
                        <a:t>nₑ = nₚ = 10¹³ m⁻³；无光电离、无解附着</a:t>
                      </a:r>
                    </a:p>
                  </a:txBody>
                  <a:tcPr marL="91440" marR="91440" marT="59436" marB="5943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7443216" y="1517904"/>
            <a:ext cx="4215384" cy="12527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CBDA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43216" y="1517904"/>
            <a:ext cx="50292" cy="1252728"/>
          </a:xfrm>
          <a:prstGeom prst="rect">
            <a:avLst/>
          </a:prstGeom>
          <a:solidFill>
            <a:srgbClr val="005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7808" y="1627631"/>
            <a:ext cx="388620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5BC4"/>
                </a:solidFill>
                <a:latin typeface="Noto Sans CJK SC"/>
                <a:ea typeface="Noto Sans CJK SC"/>
              </a:rPr>
              <a:t>输运数据的角色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7808" y="2112264"/>
            <a:ext cx="3886200" cy="5760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72B4D"/>
                </a:solidFill>
                <a:latin typeface="Noto Sans CJK SC"/>
                <a:ea typeface="Noto Sans CJK SC"/>
              </a:rPr>
              <a:t>局部场近似：μₑ、Dₑ、α、η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72B4D"/>
                </a:solidFill>
                <a:latin typeface="Noto Sans CJK SC"/>
                <a:ea typeface="Noto Sans CJK SC"/>
              </a:rPr>
              <a:t>由局部 E/N 决定</a:t>
            </a:r>
          </a:p>
        </p:txBody>
      </p:sp>
      <p:pic>
        <p:nvPicPr>
          <p:cNvPr id="17" name="Picture 16" descr="b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1680" y="2962656"/>
            <a:ext cx="2658454" cy="245059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626096" y="5440680"/>
            <a:ext cx="3822191" cy="46634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526177"/>
                </a:solidFill>
                <a:latin typeface="Noto Sans CJK SC"/>
                <a:ea typeface="Noto Sans CJK SC"/>
              </a:rPr>
              <a:t>原文图1｜空气正流注代码间基准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526177"/>
                </a:solidFill>
                <a:latin typeface="Noto Sans CJK SC"/>
                <a:ea typeface="Noto Sans CJK SC"/>
              </a:rPr>
              <a:t>验证数值实现，非混合气实验验证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" y="5934456"/>
            <a:ext cx="11228832" cy="384048"/>
          </a:xfrm>
          <a:prstGeom prst="roundRect">
            <a:avLst>
              <a:gd name="adj" fmla="val 12000"/>
            </a:avLst>
          </a:prstGeom>
          <a:solidFill>
            <a:srgbClr val="ED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" y="6025896"/>
            <a:ext cx="10844784" cy="2468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5BC4"/>
                </a:solidFill>
                <a:latin typeface="Noto Sans CJK SC"/>
                <a:ea typeface="Noto Sans CJK SC"/>
              </a:rPr>
              <a:t>数据溯源：C₄F₇N 使用 XJTUAETLab / Zhang 2023；CO₂ 使用 Biagi 数据库。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1018520" y="0"/>
            <a:ext cx="1170432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29768" y="100584"/>
            <a:ext cx="10789920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01820"/>
                </a:solidFill>
                <a:latin typeface="Noto Sans CJK SC"/>
                <a:ea typeface="Noto Sans CJK SC"/>
              </a:rPr>
              <a:t>文献二｜20% 配比更能抑制流注跨越间隙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155448"/>
            <a:ext cx="64008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26177"/>
                </a:solidFill>
                <a:latin typeface="Noto Sans CJK SC"/>
                <a:ea typeface="Noto Sans CJK SC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32104"/>
            <a:ext cx="11247120" cy="4297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00000"/>
                </a:solidFill>
                <a:latin typeface="Noto Sans CJK SC"/>
                <a:ea typeface="Noto Sans CJK SC"/>
              </a:rPr>
              <a:t>原文图9｜同一 SF₆ 临界场标尺下，比较负流注长度 L(t)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437376"/>
            <a:ext cx="11274552" cy="0"/>
          </a:xfrm>
          <a:prstGeom prst="line">
            <a:avLst/>
          </a:prstGeom>
          <a:ln w="12700">
            <a:solidFill>
              <a:srgbClr val="CBDA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75488" y="6519672"/>
            <a:ext cx="10789920" cy="2103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26177"/>
                </a:solidFill>
                <a:latin typeface="Noto Sans CJK SC"/>
                <a:ea typeface="Noto Sans CJK SC"/>
              </a:rPr>
              <a:t>[2] Simonović et al., Plasma Sources Sci. Technol. 34 (2025) 125004｜doi:10.1088/1361-6595/ae2209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640080" cy="2194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26177"/>
                </a:solidFill>
                <a:latin typeface="Noto Sans CJK SC"/>
                <a:ea typeface="Noto Sans CJK SC"/>
              </a:rPr>
              <a:t>7 /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7" y="1380744"/>
            <a:ext cx="3493008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05BC4"/>
                </a:solidFill>
                <a:latin typeface="Noto Sans CJK SC"/>
                <a:ea typeface="Noto Sans CJK SC"/>
              </a:rPr>
              <a:t>90%｜324.9 Td</a:t>
            </a:r>
          </a:p>
        </p:txBody>
      </p:sp>
      <p:pic>
        <p:nvPicPr>
          <p:cNvPr id="10" name="Picture 9" descr="b_fig9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1786689"/>
            <a:ext cx="3502152" cy="258053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343400" y="1380744"/>
            <a:ext cx="3493008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05BC4"/>
                </a:solidFill>
                <a:latin typeface="Noto Sans CJK SC"/>
                <a:ea typeface="Noto Sans CJK SC"/>
              </a:rPr>
              <a:t>80%｜288.8 Td</a:t>
            </a:r>
          </a:p>
        </p:txBody>
      </p:sp>
      <p:pic>
        <p:nvPicPr>
          <p:cNvPr id="12" name="Picture 11" descr="b_fig9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777473"/>
            <a:ext cx="3502152" cy="259896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165592" y="1380744"/>
            <a:ext cx="3493008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05BC4"/>
                </a:solidFill>
                <a:latin typeface="Noto Sans CJK SC"/>
                <a:ea typeface="Noto Sans CJK SC"/>
              </a:rPr>
              <a:t>70%｜252.7 Td</a:t>
            </a:r>
          </a:p>
        </p:txBody>
      </p:sp>
      <p:pic>
        <p:nvPicPr>
          <p:cNvPr id="14" name="Picture 13" descr="b_fig9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5382" y="1773936"/>
            <a:ext cx="3462570" cy="26060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3504" y="4407408"/>
            <a:ext cx="10972800" cy="2468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26177"/>
                </a:solidFill>
                <a:latin typeface="Noto Sans CJK SC"/>
                <a:ea typeface="Noto Sans CJK SC"/>
              </a:rPr>
              <a:t>黑：SF₆  ｜  红：10% C₄F₇N  ｜  蓝：15% C₄F₇N  ｜  青：20% C₄F₇N（其余为 CO₂）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94360" y="4800600"/>
          <a:ext cx="10981944" cy="1298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90088"/>
                <a:gridCol w="2990088"/>
                <a:gridCol w="2990088"/>
              </a:tblGrid>
              <a:tr h="420624">
                <a:tc>
                  <a:txBody>
                    <a:bodyPr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65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是否跨越间隙</a:t>
                      </a:r>
                    </a:p>
                  </a:txBody>
                  <a:tcPr marL="91440" marR="91440" marT="59436" marB="59436" anchor="ctr">
                    <a:solidFill>
                      <a:srgbClr val="005B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65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90% SF₆临界场</a:t>
                      </a:r>
                    </a:p>
                  </a:txBody>
                  <a:tcPr marL="91440" marR="91440" marT="59436" marB="59436" anchor="ctr">
                    <a:solidFill>
                      <a:srgbClr val="005B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65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80% SF₆临界场</a:t>
                      </a:r>
                    </a:p>
                  </a:txBody>
                  <a:tcPr marL="91440" marR="91440" marT="59436" marB="59436" anchor="ctr">
                    <a:solidFill>
                      <a:srgbClr val="005B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65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70% SF₆临界场</a:t>
                      </a:r>
                    </a:p>
                  </a:txBody>
                  <a:tcPr marL="91440" marR="91440" marT="59436" marB="59436" anchor="ctr">
                    <a:solidFill>
                      <a:srgbClr val="005BC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65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</a:rPr>
                        <a:t>SF₆ / 15%配比</a:t>
                      </a:r>
                    </a:p>
                  </a:txBody>
                  <a:tcPr marL="91440" marR="91440" marT="59436" marB="59436" anchor="ctr">
                    <a:solidFill>
                      <a:srgbClr val="EDF4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65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</a:rPr>
                        <a:t>均跨越</a:t>
                      </a:r>
                    </a:p>
                  </a:txBody>
                  <a:tcPr marL="91440" marR="91440" marT="59436" marB="59436" anchor="ctr">
                    <a:solidFill>
                      <a:srgbClr val="EDF4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65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</a:rPr>
                        <a:t>均跨越</a:t>
                      </a:r>
                    </a:p>
                  </a:txBody>
                  <a:tcPr marL="91440" marR="91440" marT="59436" marB="59436" anchor="ctr">
                    <a:solidFill>
                      <a:srgbClr val="EDF4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65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</a:rPr>
                        <a:t>均熄灭</a:t>
                      </a:r>
                    </a:p>
                  </a:txBody>
                  <a:tcPr marL="91440" marR="91440" marT="59436" marB="59436" anchor="ctr">
                    <a:solidFill>
                      <a:srgbClr val="EDF4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65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</a:rPr>
                        <a:t>10% / 20%配比</a:t>
                      </a:r>
                    </a:p>
                  </a:txBody>
                  <a:tcPr marL="91440" marR="91440" marT="59436" marB="5943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65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</a:rPr>
                        <a:t>跨越 / 熄灭</a:t>
                      </a:r>
                    </a:p>
                  </a:txBody>
                  <a:tcPr marL="91440" marR="91440" marT="59436" marB="5943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65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</a:rPr>
                        <a:t>跨越 / 熄灭</a:t>
                      </a:r>
                    </a:p>
                  </a:txBody>
                  <a:tcPr marL="91440" marR="91440" marT="59436" marB="5943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65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</a:rPr>
                        <a:t>跨越 / 熄灭</a:t>
                      </a:r>
                    </a:p>
                  </a:txBody>
                  <a:tcPr marL="91440" marR="91440" marT="59436" marB="5943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49224" y="6172200"/>
            <a:ext cx="10972800" cy="2103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00000"/>
                </a:solidFill>
                <a:latin typeface="Noto Sans CJK SC"/>
                <a:ea typeface="Noto Sans CJK SC"/>
              </a:rPr>
              <a:t>结论范围：此针板负流注模型中的传播抑制表现；不能直接等同于任意设备的最终击穿性能。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1018520" y="0"/>
            <a:ext cx="1170432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29768" y="100584"/>
            <a:ext cx="10789920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01820"/>
                </a:solidFill>
                <a:latin typeface="Noto Sans CJK SC"/>
                <a:ea typeface="Noto Sans CJK SC"/>
              </a:rPr>
              <a:t>文献二｜重复流注头与长度曲线的“跳变”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155448"/>
            <a:ext cx="64008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26177"/>
                </a:solidFill>
                <a:latin typeface="Noto Sans CJK SC"/>
                <a:ea typeface="Noto Sans CJK SC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32104"/>
            <a:ext cx="11247120" cy="4297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00000"/>
                </a:solidFill>
                <a:latin typeface="Noto Sans CJK SC"/>
                <a:ea typeface="Noto Sans CJK SC"/>
              </a:rPr>
              <a:t>机制解读｜80% CO₂–20% C₄F₇N；背景场为90% 的 SF₆ 临界场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437376"/>
            <a:ext cx="11274552" cy="0"/>
          </a:xfrm>
          <a:prstGeom prst="line">
            <a:avLst/>
          </a:prstGeom>
          <a:ln w="12700">
            <a:solidFill>
              <a:srgbClr val="CBDA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75488" y="6519672"/>
            <a:ext cx="10789920" cy="2103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26177"/>
                </a:solidFill>
                <a:latin typeface="Noto Sans CJK SC"/>
                <a:ea typeface="Noto Sans CJK SC"/>
              </a:rPr>
              <a:t>[2] Simonović et al., Plasma Sources Sci. Technol. 34 (2025) 125004｜doi:10.1088/1361-6595/ae2209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640080" cy="2194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26177"/>
                </a:solidFill>
                <a:latin typeface="Noto Sans CJK SC"/>
                <a:ea typeface="Noto Sans CJK SC"/>
              </a:rPr>
              <a:t>8 /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80744"/>
            <a:ext cx="6583680" cy="31089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5BC4"/>
                </a:solidFill>
                <a:latin typeface="Noto Sans CJK SC"/>
                <a:ea typeface="Noto Sans CJK SC"/>
              </a:rPr>
              <a:t>原文图14：电场 |E|（V/m）</a:t>
            </a:r>
          </a:p>
        </p:txBody>
      </p:sp>
      <p:pic>
        <p:nvPicPr>
          <p:cNvPr id="10" name="Picture 9" descr="b_fig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4764" y="1819656"/>
            <a:ext cx="4566838" cy="19385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3504" y="3813048"/>
            <a:ext cx="6583680" cy="31089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5BC4"/>
                </a:solidFill>
                <a:latin typeface="Noto Sans CJK SC"/>
                <a:ea typeface="Noto Sans CJK SC"/>
              </a:rPr>
              <a:t>原文图15：电子数密度 nₑ（m⁻³）</a:t>
            </a:r>
          </a:p>
        </p:txBody>
      </p:sp>
      <p:pic>
        <p:nvPicPr>
          <p:cNvPr id="12" name="Picture 11" descr="b_fig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9832" y="4215384"/>
            <a:ext cx="4616704" cy="194767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7315200" y="1508760"/>
            <a:ext cx="4379976" cy="13167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CBDA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0" y="1508760"/>
            <a:ext cx="50292" cy="1316736"/>
          </a:xfrm>
          <a:prstGeom prst="rect">
            <a:avLst/>
          </a:prstGeom>
          <a:solidFill>
            <a:srgbClr val="005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79792" y="1618488"/>
            <a:ext cx="4050791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5BC4"/>
                </a:solidFill>
                <a:latin typeface="Noto Sans CJK SC"/>
                <a:ea typeface="Noto Sans CJK SC"/>
              </a:rPr>
              <a:t>强附着 → 通道电子减少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79792" y="2103120"/>
            <a:ext cx="4050791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2B4D"/>
                </a:solidFill>
                <a:latin typeface="Noto Sans CJK SC"/>
                <a:ea typeface="Noto Sans CJK SC"/>
              </a:rPr>
              <a:t>通道导电性下降；出现相对孤立的流注头。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2971800"/>
            <a:ext cx="4379976" cy="1508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CBDA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0" y="2971800"/>
            <a:ext cx="50292" cy="1508760"/>
          </a:xfrm>
          <a:prstGeom prst="rect">
            <a:avLst/>
          </a:prstGeom>
          <a:solidFill>
            <a:srgbClr val="005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79792" y="3081528"/>
            <a:ext cx="4050791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5BC4"/>
                </a:solidFill>
                <a:latin typeface="Noto Sans CJK SC"/>
                <a:ea typeface="Noto Sans CJK SC"/>
              </a:rPr>
              <a:t>长度跳变来自指标切换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9792" y="3566160"/>
            <a:ext cx="4050791" cy="832103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72B4D"/>
                </a:solidFill>
                <a:latin typeface="Noto Sans CJK SC"/>
                <a:ea typeface="Noto Sans CJK SC"/>
              </a:rPr>
              <a:t>L = z_max − 3.4 mm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72B4D"/>
                </a:solidFill>
                <a:latin typeface="Noto Sans CJK SC"/>
                <a:ea typeface="Noto Sans CJK SC"/>
              </a:rPr>
              <a:t>最大场位置切换，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72B4D"/>
                </a:solidFill>
                <a:latin typeface="Noto Sans CJK SC"/>
                <a:ea typeface="Noto Sans CJK SC"/>
              </a:rPr>
              <a:t>并非前沿整体回退。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645152"/>
            <a:ext cx="4379976" cy="1508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CBDA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0" y="4645152"/>
            <a:ext cx="50292" cy="150876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79792" y="4754880"/>
            <a:ext cx="4050791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00000"/>
                </a:solidFill>
                <a:latin typeface="Noto Sans CJK SC"/>
                <a:ea typeface="Noto Sans CJK SC"/>
              </a:rPr>
              <a:t>模型边界也需要审视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79792" y="5239512"/>
            <a:ext cx="4050791" cy="832103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72B4D"/>
                </a:solidFill>
                <a:latin typeface="Noto Sans CJK SC"/>
                <a:ea typeface="Noto Sans CJK SC"/>
              </a:rPr>
              <a:t>近电极正则化需要审视；检查网格、初始电离与反应假设的敏感性。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1018520" y="0"/>
            <a:ext cx="1170432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29768" y="100584"/>
            <a:ext cx="10789920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01820"/>
                </a:solidFill>
                <a:latin typeface="Noto Sans CJK SC"/>
                <a:ea typeface="Noto Sans CJK SC"/>
              </a:rPr>
              <a:t>两篇如何衔接｜提出可检验的数据更新方案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155448"/>
            <a:ext cx="64008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26177"/>
                </a:solidFill>
                <a:latin typeface="Noto Sans CJK SC"/>
                <a:ea typeface="Noto Sans CJK SC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32104"/>
            <a:ext cx="11247120" cy="4297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00000"/>
                </a:solidFill>
                <a:latin typeface="Noto Sans CJK SC"/>
                <a:ea typeface="Noto Sans CJK SC"/>
              </a:rPr>
              <a:t>研究建议（尚未执行）｜在统一模型下比较新旧截面集的影响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437376"/>
            <a:ext cx="11274552" cy="0"/>
          </a:xfrm>
          <a:prstGeom prst="line">
            <a:avLst/>
          </a:prstGeom>
          <a:ln w="12700">
            <a:solidFill>
              <a:srgbClr val="CBDA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75488" y="6519672"/>
            <a:ext cx="10789920" cy="2103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26177"/>
                </a:solidFill>
                <a:latin typeface="Noto Sans CJK SC"/>
                <a:ea typeface="Noto Sans CJK SC"/>
              </a:rPr>
              <a:t>[1] J. Phys. D 59 (2026) 125201；[2] Plasma Sources Sci. Technol. 34 (2025) 125004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640080" cy="2194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26177"/>
                </a:solidFill>
                <a:latin typeface="Noto Sans CJK SC"/>
                <a:ea typeface="Noto Sans CJK SC"/>
              </a:rPr>
              <a:t>9 / 10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517904"/>
          <a:ext cx="11091672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5376"/>
                <a:gridCol w="4562856"/>
                <a:gridCol w="4663440"/>
              </a:tblGrid>
              <a:tr h="420624">
                <a:tc>
                  <a:txBody>
                    <a:bodyPr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比较维度</a:t>
                      </a:r>
                    </a:p>
                  </a:txBody>
                  <a:tcPr marL="91440" marR="91440" marT="59436" marB="59436" anchor="ctr">
                    <a:solidFill>
                      <a:srgbClr val="005B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文献一｜2026</a:t>
                      </a:r>
                    </a:p>
                  </a:txBody>
                  <a:tcPr marL="91440" marR="91440" marT="59436" marB="59436" anchor="ctr">
                    <a:solidFill>
                      <a:srgbClr val="005B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文献二｜2025</a:t>
                      </a:r>
                    </a:p>
                  </a:txBody>
                  <a:tcPr marL="91440" marR="91440" marT="59436" marB="59436" anchor="ctr">
                    <a:solidFill>
                      <a:srgbClr val="005BC4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</a:rPr>
                        <a:t>研究对象</a:t>
                      </a:r>
                    </a:p>
                  </a:txBody>
                  <a:tcPr marL="91440" marR="91440" marT="59436" marB="59436" anchor="ctr">
                    <a:solidFill>
                      <a:srgbClr val="EDF4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</a:rPr>
                        <a:t>微观电子碰撞截面与群参数</a:t>
                      </a:r>
                    </a:p>
                  </a:txBody>
                  <a:tcPr marL="91440" marR="91440" marT="59436" marB="59436" anchor="ctr">
                    <a:solidFill>
                      <a:srgbClr val="EDF4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</a:rPr>
                        <a:t>针板非均匀场中的负流注</a:t>
                      </a:r>
                    </a:p>
                  </a:txBody>
                  <a:tcPr marL="91440" marR="91440" marT="59436" marB="59436" anchor="ctr">
                    <a:solidFill>
                      <a:srgbClr val="EDF4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</a:rPr>
                        <a:t>主要证据</a:t>
                      </a:r>
                    </a:p>
                  </a:txBody>
                  <a:tcPr marL="91440" marR="91440" marT="59436" marB="5943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</a:rPr>
                        <a:t>谱学 / 散射 / 理论 + PT 一致性</a:t>
                      </a:r>
                    </a:p>
                  </a:txBody>
                  <a:tcPr marL="91440" marR="91440" marT="59436" marB="5943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</a:rPr>
                        <a:t>流体仿真 + 代码间基准</a:t>
                      </a:r>
                    </a:p>
                  </a:txBody>
                  <a:tcPr marL="91440" marR="91440" marT="59436" marB="59436" anchor="ctr"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</a:rPr>
                        <a:t>尚未完成</a:t>
                      </a:r>
                    </a:p>
                  </a:txBody>
                  <a:tcPr marL="91440" marR="91440" marT="59436" marB="59436" anchor="ctr">
                    <a:solidFill>
                      <a:srgbClr val="EDF4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</a:rPr>
                        <a:t>低能绝对数据、唯一性充分约束</a:t>
                      </a:r>
                    </a:p>
                  </a:txBody>
                  <a:tcPr marL="91440" marR="91440" marT="59436" marB="59436" anchor="ctr">
                    <a:solidFill>
                      <a:srgbClr val="EDF4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</a:rPr>
                        <a:t>2026 新截面替换后的放电检验</a:t>
                      </a:r>
                    </a:p>
                  </a:txBody>
                  <a:tcPr marL="91440" marR="91440" marT="59436" marB="59436" anchor="ctr">
                    <a:solidFill>
                      <a:srgbClr val="EDF4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2648" y="4041648"/>
            <a:ext cx="10972800" cy="35661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5BC4"/>
                </a:solidFill>
                <a:latin typeface="Noto Sans CJK SC"/>
                <a:ea typeface="Noto Sans CJK SC"/>
              </a:rPr>
              <a:t>建议的最小研究闭环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562856"/>
            <a:ext cx="3438144" cy="12984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CBDA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562856"/>
            <a:ext cx="50292" cy="1298448"/>
          </a:xfrm>
          <a:prstGeom prst="rect">
            <a:avLst/>
          </a:prstGeom>
          <a:solidFill>
            <a:srgbClr val="005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672584"/>
            <a:ext cx="310896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5BC4"/>
                </a:solidFill>
                <a:latin typeface="Noto Sans CJK SC"/>
                <a:ea typeface="Noto Sans CJK SC"/>
              </a:rPr>
              <a:t>1  审计截面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157216"/>
            <a:ext cx="3108960" cy="6217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72B4D"/>
                </a:solidFill>
                <a:latin typeface="Noto Sans CJK SC"/>
                <a:ea typeface="Noto Sans CJK SC"/>
              </a:rPr>
              <a:t>通道 / 阈值 / 单位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72B4D"/>
                </a:solidFill>
                <a:latin typeface="Noto Sans CJK SC"/>
                <a:ea typeface="Noto Sans CJK SC"/>
              </a:rPr>
              <a:t>能量网格与适用范围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50791" y="5010912"/>
            <a:ext cx="329184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05BC4"/>
                </a:solidFill>
                <a:latin typeface="Noto Sans CJK SC"/>
                <a:ea typeface="Noto Sans CJK SC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98264" y="4562856"/>
            <a:ext cx="3438144" cy="12984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CBDA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562856"/>
            <a:ext cx="50292" cy="1298448"/>
          </a:xfrm>
          <a:prstGeom prst="rect">
            <a:avLst/>
          </a:prstGeom>
          <a:solidFill>
            <a:srgbClr val="005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2856" y="4672584"/>
            <a:ext cx="310896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5BC4"/>
                </a:solidFill>
                <a:latin typeface="Noto Sans CJK SC"/>
                <a:ea typeface="Noto Sans CJK SC"/>
              </a:rPr>
              <a:t>2  统一求群参数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62856" y="5157216"/>
            <a:ext cx="3108960" cy="6217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72B4D"/>
                </a:solidFill>
                <a:latin typeface="Noto Sans CJK SC"/>
                <a:ea typeface="Noto Sans CJK SC"/>
              </a:rPr>
              <a:t>同组分、温度、E/N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72B4D"/>
                </a:solidFill>
                <a:latin typeface="Noto Sans CJK SC"/>
                <a:ea typeface="Noto Sans CJK SC"/>
              </a:rPr>
              <a:t>比较 W、D、净反应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82128" y="5010912"/>
            <a:ext cx="329184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05BC4"/>
                </a:solidFill>
                <a:latin typeface="Noto Sans CJK SC"/>
                <a:ea typeface="Noto Sans CJK SC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4562856"/>
            <a:ext cx="3438144" cy="12984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CBDA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4562856"/>
            <a:ext cx="50292" cy="1298448"/>
          </a:xfrm>
          <a:prstGeom prst="rect">
            <a:avLst/>
          </a:prstGeom>
          <a:solidFill>
            <a:srgbClr val="005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94192" y="4672584"/>
            <a:ext cx="310896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5BC4"/>
                </a:solidFill>
                <a:latin typeface="Noto Sans CJK SC"/>
                <a:ea typeface="Noto Sans CJK SC"/>
              </a:rPr>
              <a:t>3  替换流注输入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5157216"/>
            <a:ext cx="3108960" cy="6217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72B4D"/>
                </a:solidFill>
                <a:latin typeface="Noto Sans CJK SC"/>
                <a:ea typeface="Noto Sans CJK SC"/>
              </a:rPr>
              <a:t>固定几何与初始条件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72B4D"/>
                </a:solidFill>
                <a:latin typeface="Noto Sans CJK SC"/>
                <a:ea typeface="Noto Sans CJK SC"/>
              </a:rPr>
              <a:t>比较传播和熄灭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6062472"/>
            <a:ext cx="10881360" cy="26517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00000"/>
                </a:solidFill>
                <a:latin typeface="Noto Sans CJK SC"/>
                <a:ea typeface="Noto Sans CJK SC"/>
              </a:rPr>
              <a:t>先核对体/通量参数和扩散方向；再分析不确定性是否改变配比排序。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1018520" y="0"/>
            <a:ext cx="1170432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29768" y="100584"/>
            <a:ext cx="10789920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01820"/>
                </a:solidFill>
                <a:latin typeface="Noto Sans CJK SC"/>
                <a:ea typeface="Noto Sans CJK SC"/>
              </a:rPr>
              <a:t>总结与讨论｜从“拟合得到”走向“可信可用”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155448"/>
            <a:ext cx="64008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26177"/>
                </a:solidFill>
                <a:latin typeface="Noto Sans CJK SC"/>
                <a:ea typeface="Noto Sans CJK SC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32104"/>
            <a:ext cx="11247120" cy="4297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00000"/>
                </a:solidFill>
                <a:latin typeface="Noto Sans CJK SC"/>
                <a:ea typeface="Noto Sans CJK SC"/>
              </a:rPr>
              <a:t>面向本研究方向｜低能数据、参数定义与不确定性传递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437376"/>
            <a:ext cx="11274552" cy="0"/>
          </a:xfrm>
          <a:prstGeom prst="line">
            <a:avLst/>
          </a:prstGeom>
          <a:ln w="12700">
            <a:solidFill>
              <a:srgbClr val="CBDA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75488" y="6519672"/>
            <a:ext cx="10789920" cy="2103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26177"/>
                </a:solidFill>
                <a:latin typeface="Noto Sans CJK SC"/>
                <a:ea typeface="Noto Sans CJK SC"/>
              </a:rPr>
              <a:t>[1] J. Phys. D 59 (2026) 125201；[2] Plasma Sources Sci. Technol. 34 (2025) 125004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640080" cy="2194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26177"/>
                </a:solidFill>
                <a:latin typeface="Noto Sans CJK SC"/>
                <a:ea typeface="Noto Sans CJK SC"/>
              </a:rPr>
              <a:t>10 / 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" y="1545336"/>
            <a:ext cx="3529584" cy="19476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CBDA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2648" y="1545336"/>
            <a:ext cx="50292" cy="1947672"/>
          </a:xfrm>
          <a:prstGeom prst="rect">
            <a:avLst/>
          </a:prstGeom>
          <a:solidFill>
            <a:srgbClr val="005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55064"/>
            <a:ext cx="320040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5BC4"/>
                </a:solidFill>
                <a:latin typeface="Noto Sans CJK SC"/>
                <a:ea typeface="Noto Sans CJK SC"/>
              </a:rPr>
              <a:t>01  截面构建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39696"/>
            <a:ext cx="3200400" cy="127101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72B4D"/>
                </a:solidFill>
                <a:latin typeface="Noto Sans CJK SC"/>
                <a:ea typeface="Noto Sans CJK SC"/>
              </a:rPr>
              <a:t>多源证据比单曲线拟合更可靠；低能绝对数据与通道可辨识性仍是关键。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4256" y="1545336"/>
            <a:ext cx="3529584" cy="19476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CBDA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34256" y="1545336"/>
            <a:ext cx="50292" cy="1947672"/>
          </a:xfrm>
          <a:prstGeom prst="rect">
            <a:avLst/>
          </a:prstGeom>
          <a:solidFill>
            <a:srgbClr val="005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98848" y="1655064"/>
            <a:ext cx="320040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5BC4"/>
                </a:solidFill>
                <a:latin typeface="Noto Sans CJK SC"/>
                <a:ea typeface="Noto Sans CJK SC"/>
              </a:rPr>
              <a:t>02  放电评价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8848" y="2139696"/>
            <a:ext cx="3200400" cy="127101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72B4D"/>
                </a:solidFill>
                <a:latin typeface="Noto Sans CJK SC"/>
                <a:ea typeface="Noto Sans CJK SC"/>
              </a:rPr>
              <a:t>特定针板负流注工况下：15%配比接近SF₆，20%配比更能抑制跨隙。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5864" y="1545336"/>
            <a:ext cx="3529584" cy="19476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CBDA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55864" y="1545336"/>
            <a:ext cx="50292" cy="1947672"/>
          </a:xfrm>
          <a:prstGeom prst="rect">
            <a:avLst/>
          </a:prstGeom>
          <a:solidFill>
            <a:srgbClr val="005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0456" y="1655064"/>
            <a:ext cx="320040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5BC4"/>
                </a:solidFill>
                <a:latin typeface="Noto Sans CJK SC"/>
                <a:ea typeface="Noto Sans CJK SC"/>
              </a:rPr>
              <a:t>03  下一步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0456" y="2139696"/>
            <a:ext cx="3200400" cy="127101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72B4D"/>
                </a:solidFill>
                <a:latin typeface="Noto Sans CJK SC"/>
                <a:ea typeface="Noto Sans CJK SC"/>
              </a:rPr>
              <a:t>统一系数定义，比较新旧截面输入，再做模型敏感性与独立实验检验。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" y="3840480"/>
            <a:ext cx="10936224" cy="1453896"/>
          </a:xfrm>
          <a:prstGeom prst="roundRect">
            <a:avLst>
              <a:gd name="adj" fmla="val 12000"/>
            </a:avLst>
          </a:prstGeom>
          <a:solidFill>
            <a:srgbClr val="ED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4005072"/>
            <a:ext cx="1046988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5BC4"/>
                </a:solidFill>
                <a:latin typeface="Noto Sans CJK SC"/>
                <a:ea typeface="Noto Sans CJK SC"/>
              </a:rPr>
              <a:t>建议讨论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" y="4498848"/>
            <a:ext cx="10424160" cy="6309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72B4D"/>
                </a:solidFill>
                <a:latin typeface="Noto Sans CJK SC"/>
                <a:ea typeface="Noto Sans CJK SC"/>
              </a:rPr>
              <a:t>哪些测量最能区分低能截面？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72B4D"/>
                </a:solidFill>
                <a:latin typeface="Noto Sans CJK SC"/>
                <a:ea typeface="Noto Sans CJK SC"/>
              </a:rPr>
              <a:t>截面集差异是否足以改变目标混合气的绝缘性能排序？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669280"/>
            <a:ext cx="10607040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05BC4"/>
                </a:solidFill>
                <a:latin typeface="Noto Sans CJK SC"/>
                <a:ea typeface="Noto Sans CJK SC"/>
              </a:rPr>
              <a:t>请各位老师、同学批评指正</a:t>
            </a: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8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8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8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9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9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9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9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9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9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0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0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0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0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0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1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1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18.xml><?xml version="1.0" encoding="utf-8"?>
<p:tagLst xmlns:p="http://schemas.openxmlformats.org/presentationml/2006/main">
  <p:tag name="COMMONDATA" val="eyJoZGlkIjoiYzdhZWY4N2NmNTJjNzhjOWY0ZTgxMWQyYmQ3MTI2YzQifQ=="/>
</p:tagLst>
</file>

<file path=ppt/theme/theme1.xml><?xml version="1.0" encoding="utf-8"?>
<a:theme xmlns:a="http://schemas.openxmlformats.org/drawingml/2006/main" name="Office 主题​​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2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主题​​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微软雅黑"/>
        <a:cs typeface="微软雅黑"/>
        <a:font script="Jpan" typeface="ＭＳ Ｐゴシック"/>
        <a:font script="Hang" typeface="맑은 고딕"/>
        <a:font script="Hans" typeface="微软雅黑"/>
        <a:font script="Hant" typeface="新細明體"/>
        <a:font script="Arab" typeface="微软雅黑"/>
        <a:font script="Hebr" typeface="微软雅黑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微软雅黑"/>
        <a:font script="Uigh" typeface="Microsoft Uighur"/>
        <a:font script="Geor" typeface="Sylfaen"/>
      </a:majorFont>
      <a:minorFont>
        <a:latin typeface="Calibri"/>
        <a:ea typeface="微软雅黑"/>
        <a:cs typeface="微软雅黑"/>
        <a:font script="Jpan" typeface="ＭＳ Ｐゴシック"/>
        <a:font script="Hang" typeface="맑은 고딕"/>
        <a:font script="Hans" typeface="微软雅黑"/>
        <a:font script="Hant" typeface="新細明體"/>
        <a:font script="Arab" typeface="微软雅黑"/>
        <a:font script="Hebr" typeface="微软雅黑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微软雅黑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微软雅黑"/>
        <a:cs typeface="微软雅黑"/>
        <a:font script="Jpan" typeface="ＭＳ Ｐゴシック"/>
        <a:font script="Hang" typeface="맑은 고딕"/>
        <a:font script="Hans" typeface="微软雅黑"/>
        <a:font script="Hant" typeface="新細明體"/>
        <a:font script="Arab" typeface="微软雅黑"/>
        <a:font script="Hebr" typeface="微软雅黑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微软雅黑"/>
        <a:font script="Uigh" typeface="Microsoft Uighur"/>
        <a:font script="Geor" typeface="Sylfaen"/>
      </a:majorFont>
      <a:minorFont>
        <a:latin typeface="Calibri"/>
        <a:ea typeface="微软雅黑"/>
        <a:cs typeface="微软雅黑"/>
        <a:font script="Jpan" typeface="ＭＳ Ｐゴシック"/>
        <a:font script="Hang" typeface="맑은 고딕"/>
        <a:font script="Hans" typeface="微软雅黑"/>
        <a:font script="Hant" typeface="新細明體"/>
        <a:font script="Arab" typeface="微软雅黑"/>
        <a:font script="Hebr" typeface="微软雅黑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微软雅黑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C:\Program Files\Microsoft Office\Templates\Presentation Designs\Sunny Days.pot</Template>
  <TotalTime>0</TotalTime>
  <Words>7008</Words>
  <Application>WPS 演示</Application>
  <PresentationFormat>宽屏</PresentationFormat>
  <Paragraphs>546</Paragraphs>
  <Slides>23</Slides>
  <Notes>21</Notes>
  <HiddenSlides>0</HiddenSlides>
  <MMClips>0</MMClips>
  <ScaleCrop>false</ScaleCrop>
  <HeadingPairs>
    <vt:vector size="8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2</vt:i4>
      </vt:variant>
      <vt:variant>
        <vt:lpstr>嵌入 OLE 服务器</vt:lpstr>
      </vt:variant>
      <vt:variant>
        <vt:i4>5</vt:i4>
      </vt:variant>
      <vt:variant>
        <vt:lpstr>幻灯片标题</vt:lpstr>
      </vt:variant>
      <vt:variant>
        <vt:i4>23</vt:i4>
      </vt:variant>
    </vt:vector>
  </HeadingPairs>
  <TitlesOfParts>
    <vt:vector size="46" baseType="lpstr">
      <vt:lpstr>Arial</vt:lpstr>
      <vt:lpstr>宋体</vt:lpstr>
      <vt:lpstr>Wingdings</vt:lpstr>
      <vt:lpstr>Times New Roman</vt:lpstr>
      <vt:lpstr>楷体_GB2312</vt:lpstr>
      <vt:lpstr>新宋体</vt:lpstr>
      <vt:lpstr>微软雅黑</vt:lpstr>
      <vt:lpstr>Wingdings</vt:lpstr>
      <vt:lpstr>Arial</vt:lpstr>
      <vt:lpstr>黑体</vt:lpstr>
      <vt:lpstr>楷体</vt:lpstr>
      <vt:lpstr>Noto Sans SC</vt:lpstr>
      <vt:lpstr>Arial Unicode MS</vt:lpstr>
      <vt:lpstr>Roboto Mono</vt:lpstr>
      <vt:lpstr>SWAstro</vt:lpstr>
      <vt:lpstr>MS PGothic</vt:lpstr>
      <vt:lpstr>Office 主题​​</vt:lpstr>
      <vt:lpstr>1_Office 主题​​</vt:lpstr>
      <vt:lpstr>Equation.DSMT4</vt:lpstr>
      <vt:lpstr>Equation.DSMT4</vt:lpstr>
      <vt:lpstr>Equation.DSMT4</vt:lpstr>
      <vt:lpstr>Equation.DSMT4</vt:lpstr>
      <vt:lpstr>Equation.DSMT4</vt:lpstr>
      <vt:lpstr>PowerPoint 演示文稿</vt:lpstr>
      <vt:lpstr>研究背景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vacuum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C4F7N电子碰撞截面与负流注放电特性：两篇文献分享</dc:title>
  <dc:creator/>
  <cp:lastModifiedBy/>
  <cp:revision>6133</cp:revision>
  <cp:lastPrinted>2113-01-01T00:00:00Z</cp:lastPrinted>
  <dcterms:created xsi:type="dcterms:W3CDTF">2004-10-12T04:01:00Z</dcterms:created>
  <dcterms:modified xsi:type="dcterms:W3CDTF">2026-04-26T04:36:43Z</dcterms:modified>
  <dc:subject>新型环保绝缘气体：电子群参数、碰撞截面与流注仿真</dc:subject>
  <cp:keywords>C4F7N,电子群参数,碰撞截面,负流注,文献分享</cp:keywords>
  <dc:description>Based on the user-provided PPT template; paper figures retain source attribution.</dc:description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2052-12.1.0.25865</vt:lpwstr>
  </property>
  <property fmtid="{D5CDD505-2E9C-101B-9397-08002B2CF9AE}" pid="3" name="ICV">
    <vt:lpwstr>0834975419C14E29BBF51CA480CAF209</vt:lpwstr>
  </property>
</Properties>
</file>